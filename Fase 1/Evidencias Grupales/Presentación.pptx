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Childos Arabic Bold" charset="1" panose="00000800000000000000"/>
      <p:regular r:id="rId20"/>
    </p:embeddedFont>
    <p:embeddedFont>
      <p:font typeface="Comic Sans" charset="1" panose="03000702030302020204"/>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20" Target="../media/image19.png" Type="http://schemas.openxmlformats.org/officeDocument/2006/relationships/image"/><Relationship Id="rId21" Target="../media/image20.sv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29.png" Type="http://schemas.openxmlformats.org/officeDocument/2006/relationships/image"/><Relationship Id="rId15" Target="../media/image30.svg" Type="http://schemas.openxmlformats.org/officeDocument/2006/relationships/image"/><Relationship Id="rId16" Target="../media/image31.png" Type="http://schemas.openxmlformats.org/officeDocument/2006/relationships/image"/><Relationship Id="rId17" Target="../media/image32.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9.png" Type="http://schemas.openxmlformats.org/officeDocument/2006/relationships/image"/><Relationship Id="rId17" Target="../media/image10.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37.png" Type="http://schemas.openxmlformats.org/officeDocument/2006/relationships/image"/><Relationship Id="rId17" Target="../media/image38.svg" Type="http://schemas.openxmlformats.org/officeDocument/2006/relationships/image"/><Relationship Id="rId18" Target="../media/image39.png" Type="http://schemas.openxmlformats.org/officeDocument/2006/relationships/image"/><Relationship Id="rId19" Target="../media/image40.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37.png" Type="http://schemas.openxmlformats.org/officeDocument/2006/relationships/image"/><Relationship Id="rId17" Target="../media/image38.svg" Type="http://schemas.openxmlformats.org/officeDocument/2006/relationships/image"/><Relationship Id="rId18" Target="../media/image39.png" Type="http://schemas.openxmlformats.org/officeDocument/2006/relationships/image"/><Relationship Id="rId19" Target="../media/image40.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5.png" Type="http://schemas.openxmlformats.org/officeDocument/2006/relationships/image"/><Relationship Id="rId15" Target="../media/image6.svg" Type="http://schemas.openxmlformats.org/officeDocument/2006/relationships/image"/><Relationship Id="rId16" Target="../media/image35.png" Type="http://schemas.openxmlformats.org/officeDocument/2006/relationships/image"/><Relationship Id="rId17" Target="../media/image36.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37.png" Type="http://schemas.openxmlformats.org/officeDocument/2006/relationships/image"/><Relationship Id="rId17" Target="../media/image38.svg" Type="http://schemas.openxmlformats.org/officeDocument/2006/relationships/image"/><Relationship Id="rId18" Target="../media/image39.png" Type="http://schemas.openxmlformats.org/officeDocument/2006/relationships/image"/><Relationship Id="rId19" Target="../media/image40.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7.png" Type="http://schemas.openxmlformats.org/officeDocument/2006/relationships/image"/><Relationship Id="rId13" Target="../media/image18.svg" Type="http://schemas.openxmlformats.org/officeDocument/2006/relationships/image"/><Relationship Id="rId14" Target="../media/image19.png" Type="http://schemas.openxmlformats.org/officeDocument/2006/relationships/image"/><Relationship Id="rId15" Target="../media/image20.svg" Type="http://schemas.openxmlformats.org/officeDocument/2006/relationships/image"/><Relationship Id="rId16" Target="../media/image39.png" Type="http://schemas.openxmlformats.org/officeDocument/2006/relationships/image"/><Relationship Id="rId17" Target="../media/image40.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39.png" Type="http://schemas.openxmlformats.org/officeDocument/2006/relationships/image"/><Relationship Id="rId15" Target="../media/image40.svg" Type="http://schemas.openxmlformats.org/officeDocument/2006/relationships/image"/><Relationship Id="rId2" Target="../media/image15.png" Type="http://schemas.openxmlformats.org/officeDocument/2006/relationships/image"/><Relationship Id="rId3" Target="../media/image16.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11.png" Type="http://schemas.openxmlformats.org/officeDocument/2006/relationships/image"/><Relationship Id="rId15" Target="../media/image12.svg" Type="http://schemas.openxmlformats.org/officeDocument/2006/relationships/image"/><Relationship Id="rId16" Target="../media/image9.png" Type="http://schemas.openxmlformats.org/officeDocument/2006/relationships/image"/><Relationship Id="rId17" Target="../media/image10.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3.png" Type="http://schemas.openxmlformats.org/officeDocument/2006/relationships/image"/><Relationship Id="rId7" Target="../media/image14.svg" Type="http://schemas.openxmlformats.org/officeDocument/2006/relationships/image"/><Relationship Id="rId8" Target="../media/image15.png" Type="http://schemas.openxmlformats.org/officeDocument/2006/relationships/image"/><Relationship Id="rId9" Target="../media/image16.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png" Type="http://schemas.openxmlformats.org/officeDocument/2006/relationships/image"/><Relationship Id="rId11" Target="../media/image14.svg" Type="http://schemas.openxmlformats.org/officeDocument/2006/relationships/image"/><Relationship Id="rId12" Target="../media/image15.png" Type="http://schemas.openxmlformats.org/officeDocument/2006/relationships/image"/><Relationship Id="rId13" Target="../media/image16.svg" Type="http://schemas.openxmlformats.org/officeDocument/2006/relationships/image"/><Relationship Id="rId14" Target="../media/image17.png" Type="http://schemas.openxmlformats.org/officeDocument/2006/relationships/image"/><Relationship Id="rId15" Target="../media/image18.svg" Type="http://schemas.openxmlformats.org/officeDocument/2006/relationships/image"/><Relationship Id="rId16" Target="../media/image19.png" Type="http://schemas.openxmlformats.org/officeDocument/2006/relationships/image"/><Relationship Id="rId17" Target="../media/image20.svg" Type="http://schemas.openxmlformats.org/officeDocument/2006/relationships/image"/><Relationship Id="rId2" Target="../media/image21.png" Type="http://schemas.openxmlformats.org/officeDocument/2006/relationships/image"/><Relationship Id="rId3" Target="../media/image22.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12" Target="../media/image19.png" Type="http://schemas.openxmlformats.org/officeDocument/2006/relationships/image"/><Relationship Id="rId13" Target="../media/image20.svg" Type="http://schemas.openxmlformats.org/officeDocument/2006/relationships/image"/><Relationship Id="rId14" Target="../media/image41.png" Type="http://schemas.openxmlformats.org/officeDocument/2006/relationships/image"/><Relationship Id="rId15" Target="../media/image42.svg" Type="http://schemas.openxmlformats.org/officeDocument/2006/relationships/image"/><Relationship Id="rId16" Target="../media/image43.png" Type="http://schemas.openxmlformats.org/officeDocument/2006/relationships/image"/><Relationship Id="rId17" Target="../media/image44.svg" Type="http://schemas.openxmlformats.org/officeDocument/2006/relationships/image"/><Relationship Id="rId18" Target="../media/image45.png" Type="http://schemas.openxmlformats.org/officeDocument/2006/relationships/image"/><Relationship Id="rId19" Target="../media/image46.svg" Type="http://schemas.openxmlformats.org/officeDocument/2006/relationships/image"/><Relationship Id="rId2" Target="../media/image27.png" Type="http://schemas.openxmlformats.org/officeDocument/2006/relationships/image"/><Relationship Id="rId3" Target="../media/image28.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4986738">
            <a:off x="-3622216" y="-2774084"/>
            <a:ext cx="6737952" cy="6249450"/>
          </a:xfrm>
          <a:custGeom>
            <a:avLst/>
            <a:gdLst/>
            <a:ahLst/>
            <a:cxnLst/>
            <a:rect r="r" b="b" t="t" l="l"/>
            <a:pathLst>
              <a:path h="6249450" w="6737952">
                <a:moveTo>
                  <a:pt x="0" y="0"/>
                </a:moveTo>
                <a:lnTo>
                  <a:pt x="6737951" y="0"/>
                </a:lnTo>
                <a:lnTo>
                  <a:pt x="6737951" y="6249450"/>
                </a:lnTo>
                <a:lnTo>
                  <a:pt x="0" y="6249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589414">
            <a:off x="14202005" y="6729075"/>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60400">
            <a:off x="3154616" y="2015528"/>
            <a:ext cx="12451652" cy="6552682"/>
          </a:xfrm>
          <a:custGeom>
            <a:avLst/>
            <a:gdLst/>
            <a:ahLst/>
            <a:cxnLst/>
            <a:rect r="r" b="b" t="t" l="l"/>
            <a:pathLst>
              <a:path h="6552682" w="12451652">
                <a:moveTo>
                  <a:pt x="12451652" y="0"/>
                </a:moveTo>
                <a:lnTo>
                  <a:pt x="0" y="0"/>
                </a:lnTo>
                <a:lnTo>
                  <a:pt x="0" y="6552682"/>
                </a:lnTo>
                <a:lnTo>
                  <a:pt x="12451652" y="6552682"/>
                </a:lnTo>
                <a:lnTo>
                  <a:pt x="12451652"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5" id="5"/>
          <p:cNvSpPr/>
          <p:nvPr/>
        </p:nvSpPr>
        <p:spPr>
          <a:xfrm flipH="false" flipV="false" rot="60400">
            <a:off x="1992085" y="746995"/>
            <a:ext cx="3157893" cy="3983580"/>
          </a:xfrm>
          <a:custGeom>
            <a:avLst/>
            <a:gdLst/>
            <a:ahLst/>
            <a:cxnLst/>
            <a:rect r="r" b="b" t="t" l="l"/>
            <a:pathLst>
              <a:path h="3983580" w="3157893">
                <a:moveTo>
                  <a:pt x="0" y="0"/>
                </a:moveTo>
                <a:lnTo>
                  <a:pt x="3157892" y="0"/>
                </a:lnTo>
                <a:lnTo>
                  <a:pt x="3157892" y="3983580"/>
                </a:lnTo>
                <a:lnTo>
                  <a:pt x="0" y="39835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60400">
            <a:off x="12798837" y="5945578"/>
            <a:ext cx="3391092" cy="3199958"/>
          </a:xfrm>
          <a:custGeom>
            <a:avLst/>
            <a:gdLst/>
            <a:ahLst/>
            <a:cxnLst/>
            <a:rect r="r" b="b" t="t" l="l"/>
            <a:pathLst>
              <a:path h="3199958" w="3391092">
                <a:moveTo>
                  <a:pt x="0" y="0"/>
                </a:moveTo>
                <a:lnTo>
                  <a:pt x="3391093" y="0"/>
                </a:lnTo>
                <a:lnTo>
                  <a:pt x="3391093" y="3199958"/>
                </a:lnTo>
                <a:lnTo>
                  <a:pt x="0" y="319995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1770310">
            <a:off x="15486493" y="952111"/>
            <a:ext cx="1392006" cy="2630939"/>
          </a:xfrm>
          <a:custGeom>
            <a:avLst/>
            <a:gdLst/>
            <a:ahLst/>
            <a:cxnLst/>
            <a:rect r="r" b="b" t="t" l="l"/>
            <a:pathLst>
              <a:path h="2630939" w="1392006">
                <a:moveTo>
                  <a:pt x="0" y="0"/>
                </a:moveTo>
                <a:lnTo>
                  <a:pt x="1392006" y="0"/>
                </a:lnTo>
                <a:lnTo>
                  <a:pt x="1392006" y="2630940"/>
                </a:lnTo>
                <a:lnTo>
                  <a:pt x="0" y="263094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60400">
            <a:off x="1302038" y="7082220"/>
            <a:ext cx="3137891" cy="2744228"/>
          </a:xfrm>
          <a:custGeom>
            <a:avLst/>
            <a:gdLst/>
            <a:ahLst/>
            <a:cxnLst/>
            <a:rect r="r" b="b" t="t" l="l"/>
            <a:pathLst>
              <a:path h="2744228" w="3137891">
                <a:moveTo>
                  <a:pt x="0" y="0"/>
                </a:moveTo>
                <a:lnTo>
                  <a:pt x="3137890" y="0"/>
                </a:lnTo>
                <a:lnTo>
                  <a:pt x="3137890" y="2744228"/>
                </a:lnTo>
                <a:lnTo>
                  <a:pt x="0" y="2744228"/>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6880753">
            <a:off x="9074884" y="-1531439"/>
            <a:ext cx="4151122" cy="4114800"/>
          </a:xfrm>
          <a:custGeom>
            <a:avLst/>
            <a:gdLst/>
            <a:ahLst/>
            <a:cxnLst/>
            <a:rect r="r" b="b" t="t" l="l"/>
            <a:pathLst>
              <a:path h="4114800" w="4151122">
                <a:moveTo>
                  <a:pt x="0" y="0"/>
                </a:moveTo>
                <a:lnTo>
                  <a:pt x="4151122" y="0"/>
                </a:lnTo>
                <a:lnTo>
                  <a:pt x="4151122"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0" id="10"/>
          <p:cNvSpPr/>
          <p:nvPr/>
        </p:nvSpPr>
        <p:spPr>
          <a:xfrm flipH="false" flipV="false" rot="-6707457">
            <a:off x="8040325" y="7157712"/>
            <a:ext cx="2207350" cy="4493333"/>
          </a:xfrm>
          <a:custGeom>
            <a:avLst/>
            <a:gdLst/>
            <a:ahLst/>
            <a:cxnLst/>
            <a:rect r="r" b="b" t="t" l="l"/>
            <a:pathLst>
              <a:path h="4493333" w="2207350">
                <a:moveTo>
                  <a:pt x="0" y="0"/>
                </a:moveTo>
                <a:lnTo>
                  <a:pt x="2207350" y="0"/>
                </a:lnTo>
                <a:lnTo>
                  <a:pt x="2207350" y="4493333"/>
                </a:lnTo>
                <a:lnTo>
                  <a:pt x="0" y="4493333"/>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1" id="11"/>
          <p:cNvSpPr/>
          <p:nvPr/>
        </p:nvSpPr>
        <p:spPr>
          <a:xfrm flipH="false" flipV="false" rot="-2843637">
            <a:off x="996201" y="511285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12" id="12"/>
          <p:cNvSpPr/>
          <p:nvPr/>
        </p:nvSpPr>
        <p:spPr>
          <a:xfrm flipH="false" flipV="false" rot="-4129766">
            <a:off x="6176114" y="1136792"/>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3" id="13"/>
          <p:cNvSpPr/>
          <p:nvPr/>
        </p:nvSpPr>
        <p:spPr>
          <a:xfrm flipH="false" flipV="false" rot="-4129766">
            <a:off x="12406389" y="9068731"/>
            <a:ext cx="671296" cy="671296"/>
          </a:xfrm>
          <a:custGeom>
            <a:avLst/>
            <a:gdLst/>
            <a:ahLst/>
            <a:cxnLst/>
            <a:rect r="r" b="b" t="t" l="l"/>
            <a:pathLst>
              <a:path h="671296" w="671296">
                <a:moveTo>
                  <a:pt x="0" y="0"/>
                </a:moveTo>
                <a:lnTo>
                  <a:pt x="671296" y="0"/>
                </a:lnTo>
                <a:lnTo>
                  <a:pt x="671296" y="671295"/>
                </a:lnTo>
                <a:lnTo>
                  <a:pt x="0" y="671295"/>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sp>
        <p:nvSpPr>
          <p:cNvPr name="Freeform 14" id="14"/>
          <p:cNvSpPr/>
          <p:nvPr/>
        </p:nvSpPr>
        <p:spPr>
          <a:xfrm flipH="false" flipV="false" rot="-2843637">
            <a:off x="16374232" y="4795749"/>
            <a:ext cx="928550" cy="928550"/>
          </a:xfrm>
          <a:custGeom>
            <a:avLst/>
            <a:gdLst/>
            <a:ahLst/>
            <a:cxnLst/>
            <a:rect r="r" b="b" t="t" l="l"/>
            <a:pathLst>
              <a:path h="928550" w="928550">
                <a:moveTo>
                  <a:pt x="0" y="0"/>
                </a:moveTo>
                <a:lnTo>
                  <a:pt x="928550" y="0"/>
                </a:lnTo>
                <a:lnTo>
                  <a:pt x="928550" y="928551"/>
                </a:lnTo>
                <a:lnTo>
                  <a:pt x="0" y="928551"/>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5" id="15"/>
          <p:cNvSpPr txBox="true"/>
          <p:nvPr/>
        </p:nvSpPr>
        <p:spPr>
          <a:xfrm rot="0">
            <a:off x="3744258" y="3511694"/>
            <a:ext cx="10799484" cy="4333875"/>
          </a:xfrm>
          <a:prstGeom prst="rect">
            <a:avLst/>
          </a:prstGeom>
        </p:spPr>
        <p:txBody>
          <a:bodyPr anchor="t" rtlCol="false" tIns="0" lIns="0" bIns="0" rIns="0">
            <a:spAutoFit/>
          </a:bodyPr>
          <a:lstStyle/>
          <a:p>
            <a:pPr algn="ctr">
              <a:lnSpc>
                <a:spcPts val="16589"/>
              </a:lnSpc>
              <a:spcBef>
                <a:spcPct val="0"/>
              </a:spcBef>
            </a:pPr>
            <a:r>
              <a:rPr lang="en-US" b="true" sz="13824">
                <a:solidFill>
                  <a:srgbClr val="FFFAF7"/>
                </a:solidFill>
                <a:latin typeface="Childos Arabic Bold"/>
                <a:ea typeface="Childos Arabic Bold"/>
                <a:cs typeface="Childos Arabic Bold"/>
                <a:sym typeface="Childos Arabic Bold"/>
              </a:rPr>
              <a:t>NFC-</a:t>
            </a:r>
            <a:r>
              <a:rPr lang="en-US" b="true" sz="13824">
                <a:solidFill>
                  <a:srgbClr val="FFFAF7"/>
                </a:solidFill>
                <a:latin typeface="Childos Arabic Bold"/>
                <a:ea typeface="Childos Arabic Bold"/>
                <a:cs typeface="Childos Arabic Bold"/>
                <a:sym typeface="Childos Arabic Bold"/>
              </a:rPr>
              <a:t>FoodTech</a:t>
            </a:r>
          </a:p>
          <a:p>
            <a:pPr algn="ctr">
              <a:lnSpc>
                <a:spcPts val="16589"/>
              </a:lnSpc>
              <a:spcBef>
                <a:spcPct val="0"/>
              </a:spcBef>
            </a:pPr>
          </a:p>
        </p:txBody>
      </p:sp>
      <p:sp>
        <p:nvSpPr>
          <p:cNvPr name="TextBox 16" id="16"/>
          <p:cNvSpPr txBox="true"/>
          <p:nvPr/>
        </p:nvSpPr>
        <p:spPr>
          <a:xfrm rot="0">
            <a:off x="5479869" y="5513630"/>
            <a:ext cx="6827955" cy="1828800"/>
          </a:xfrm>
          <a:prstGeom prst="rect">
            <a:avLst/>
          </a:prstGeom>
        </p:spPr>
        <p:txBody>
          <a:bodyPr anchor="t" rtlCol="false" tIns="0" lIns="0" bIns="0" rIns="0">
            <a:spAutoFit/>
          </a:bodyPr>
          <a:lstStyle/>
          <a:p>
            <a:pPr algn="ctr">
              <a:lnSpc>
                <a:spcPts val="3644"/>
              </a:lnSpc>
            </a:pPr>
            <a:r>
              <a:rPr lang="en-US" sz="3037">
                <a:solidFill>
                  <a:srgbClr val="FFFAF7"/>
                </a:solidFill>
                <a:latin typeface="Comic Sans"/>
                <a:ea typeface="Comic Sans"/>
                <a:cs typeface="Comic Sans"/>
                <a:sym typeface="Comic Sans"/>
              </a:rPr>
              <a:t>Grupo 2</a:t>
            </a:r>
          </a:p>
          <a:p>
            <a:pPr algn="ctr">
              <a:lnSpc>
                <a:spcPts val="3644"/>
              </a:lnSpc>
            </a:pPr>
            <a:r>
              <a:rPr lang="en-US" sz="3037">
                <a:solidFill>
                  <a:srgbClr val="FFFAF7"/>
                </a:solidFill>
                <a:latin typeface="Comic Sans"/>
                <a:ea typeface="Comic Sans"/>
                <a:cs typeface="Comic Sans"/>
                <a:sym typeface="Comic Sans"/>
              </a:rPr>
              <a:t>José Paillán</a:t>
            </a:r>
          </a:p>
          <a:p>
            <a:pPr algn="ctr">
              <a:lnSpc>
                <a:spcPts val="3644"/>
              </a:lnSpc>
            </a:pPr>
            <a:r>
              <a:rPr lang="en-US" sz="3037">
                <a:solidFill>
                  <a:srgbClr val="FFFAF7"/>
                </a:solidFill>
                <a:latin typeface="Comic Sans"/>
                <a:ea typeface="Comic Sans"/>
                <a:cs typeface="Comic Sans"/>
                <a:sym typeface="Comic Sans"/>
              </a:rPr>
              <a:t>Samuel Acuña</a:t>
            </a:r>
          </a:p>
          <a:p>
            <a:pPr algn="ctr">
              <a:lnSpc>
                <a:spcPts val="3644"/>
              </a:lnSpc>
              <a:spcBef>
                <a:spcPct val="0"/>
              </a:spcBef>
            </a:pPr>
            <a:r>
              <a:rPr lang="en-US" sz="3037">
                <a:solidFill>
                  <a:srgbClr val="FFFAF7"/>
                </a:solidFill>
                <a:latin typeface="Comic Sans"/>
                <a:ea typeface="Comic Sans"/>
                <a:cs typeface="Comic Sans"/>
                <a:sym typeface="Comic Sans"/>
              </a:rPr>
              <a:t>Rodrigo Casanova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65638">
            <a:off x="1410624" y="541288"/>
            <a:ext cx="15613836" cy="9342279"/>
          </a:xfrm>
          <a:custGeom>
            <a:avLst/>
            <a:gdLst/>
            <a:ahLst/>
            <a:cxnLst/>
            <a:rect r="r" b="b" t="t" l="l"/>
            <a:pathLst>
              <a:path h="9342279" w="15613836">
                <a:moveTo>
                  <a:pt x="0" y="0"/>
                </a:moveTo>
                <a:lnTo>
                  <a:pt x="15613837" y="0"/>
                </a:lnTo>
                <a:lnTo>
                  <a:pt x="15613837" y="9342278"/>
                </a:lnTo>
                <a:lnTo>
                  <a:pt x="0" y="934227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28092">
            <a:off x="-2340276" y="6927747"/>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323303">
            <a:off x="14263824" y="-2433533"/>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039206">
            <a:off x="14028355" y="1386670"/>
            <a:ext cx="3017538" cy="3039644"/>
          </a:xfrm>
          <a:custGeom>
            <a:avLst/>
            <a:gdLst/>
            <a:ahLst/>
            <a:cxnLst/>
            <a:rect r="r" b="b" t="t" l="l"/>
            <a:pathLst>
              <a:path h="3039644" w="3017538">
                <a:moveTo>
                  <a:pt x="0" y="0"/>
                </a:moveTo>
                <a:lnTo>
                  <a:pt x="3017537" y="0"/>
                </a:lnTo>
                <a:lnTo>
                  <a:pt x="3017537" y="3039645"/>
                </a:lnTo>
                <a:lnTo>
                  <a:pt x="0" y="30396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976150">
            <a:off x="1489030" y="6312260"/>
            <a:ext cx="2770615" cy="2919231"/>
          </a:xfrm>
          <a:custGeom>
            <a:avLst/>
            <a:gdLst/>
            <a:ahLst/>
            <a:cxnLst/>
            <a:rect r="r" b="b" t="t" l="l"/>
            <a:pathLst>
              <a:path h="2919231" w="2770615">
                <a:moveTo>
                  <a:pt x="0" y="0"/>
                </a:moveTo>
                <a:lnTo>
                  <a:pt x="2770615" y="0"/>
                </a:lnTo>
                <a:lnTo>
                  <a:pt x="2770615" y="2919230"/>
                </a:lnTo>
                <a:lnTo>
                  <a:pt x="0" y="29192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750579" y="2668357"/>
            <a:ext cx="9351434" cy="2368978"/>
          </a:xfrm>
          <a:prstGeom prst="rect">
            <a:avLst/>
          </a:prstGeom>
        </p:spPr>
        <p:txBody>
          <a:bodyPr anchor="t" rtlCol="false" tIns="0" lIns="0" bIns="0" rIns="0">
            <a:spAutoFit/>
          </a:bodyPr>
          <a:lstStyle/>
          <a:p>
            <a:pPr algn="ctr">
              <a:lnSpc>
                <a:spcPts val="9072"/>
              </a:lnSpc>
              <a:spcBef>
                <a:spcPct val="0"/>
              </a:spcBef>
            </a:pPr>
            <a:r>
              <a:rPr lang="en-US" b="true" sz="7560">
                <a:solidFill>
                  <a:srgbClr val="FFFAF7"/>
                </a:solidFill>
                <a:latin typeface="Childos Arabic Bold"/>
                <a:ea typeface="Childos Arabic Bold"/>
                <a:cs typeface="Childos Arabic Bold"/>
                <a:sym typeface="Childos Arabic Bold"/>
              </a:rPr>
              <a:t>Introducción y contexto</a:t>
            </a:r>
          </a:p>
        </p:txBody>
      </p:sp>
      <p:sp>
        <p:nvSpPr>
          <p:cNvPr name="TextBox 8" id="8"/>
          <p:cNvSpPr txBox="true"/>
          <p:nvPr/>
        </p:nvSpPr>
        <p:spPr>
          <a:xfrm rot="0">
            <a:off x="3836510" y="5010082"/>
            <a:ext cx="3828139" cy="2333625"/>
          </a:xfrm>
          <a:prstGeom prst="rect">
            <a:avLst/>
          </a:prstGeom>
        </p:spPr>
        <p:txBody>
          <a:bodyPr anchor="t" rtlCol="false" tIns="0" lIns="0" bIns="0" rIns="0">
            <a:spAutoFit/>
          </a:bodyPr>
          <a:lstStyle/>
          <a:p>
            <a:pPr algn="l">
              <a:lnSpc>
                <a:spcPts val="2627"/>
              </a:lnSpc>
            </a:pPr>
            <a:r>
              <a:rPr lang="en-US" sz="2189">
                <a:solidFill>
                  <a:srgbClr val="FFFAF7"/>
                </a:solidFill>
                <a:latin typeface="Comic Sans"/>
                <a:ea typeface="Comic Sans"/>
                <a:cs typeface="Comic Sans"/>
                <a:sym typeface="Comic Sans"/>
              </a:rPr>
              <a:t>Problemática</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Desperdicio de alimentos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Vencimiento y olvido de productos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Compras excesivas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Falta de planificación</a:t>
            </a:r>
          </a:p>
          <a:p>
            <a:pPr algn="l">
              <a:lnSpc>
                <a:spcPts val="2627"/>
              </a:lnSpc>
            </a:pPr>
          </a:p>
        </p:txBody>
      </p:sp>
      <p:sp>
        <p:nvSpPr>
          <p:cNvPr name="Freeform 9" id="9"/>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8247948">
            <a:off x="15370504" y="6394999"/>
            <a:ext cx="2411733" cy="4909381"/>
          </a:xfrm>
          <a:custGeom>
            <a:avLst/>
            <a:gdLst/>
            <a:ahLst/>
            <a:cxnLst/>
            <a:rect r="r" b="b" t="t" l="l"/>
            <a:pathLst>
              <a:path h="4909381" w="2411733">
                <a:moveTo>
                  <a:pt x="0" y="0"/>
                </a:moveTo>
                <a:lnTo>
                  <a:pt x="2411734" y="0"/>
                </a:lnTo>
                <a:lnTo>
                  <a:pt x="2411734" y="4909381"/>
                </a:lnTo>
                <a:lnTo>
                  <a:pt x="0" y="4909381"/>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2843637">
            <a:off x="976721" y="4510250"/>
            <a:ext cx="999664" cy="999664"/>
          </a:xfrm>
          <a:custGeom>
            <a:avLst/>
            <a:gdLst/>
            <a:ahLst/>
            <a:cxnLst/>
            <a:rect r="r" b="b" t="t" l="l"/>
            <a:pathLst>
              <a:path h="999664" w="999664">
                <a:moveTo>
                  <a:pt x="0" y="0"/>
                </a:moveTo>
                <a:lnTo>
                  <a:pt x="999664" y="0"/>
                </a:lnTo>
                <a:lnTo>
                  <a:pt x="999664" y="999665"/>
                </a:lnTo>
                <a:lnTo>
                  <a:pt x="0" y="99966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2843637">
            <a:off x="16431643" y="572585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4129766">
            <a:off x="11907504" y="1127265"/>
            <a:ext cx="671296" cy="671296"/>
          </a:xfrm>
          <a:custGeom>
            <a:avLst/>
            <a:gdLst/>
            <a:ahLst/>
            <a:cxnLst/>
            <a:rect r="r" b="b" t="t" l="l"/>
            <a:pathLst>
              <a:path h="671296" w="671296">
                <a:moveTo>
                  <a:pt x="0" y="0"/>
                </a:moveTo>
                <a:lnTo>
                  <a:pt x="671295" y="0"/>
                </a:lnTo>
                <a:lnTo>
                  <a:pt x="671295" y="671295"/>
                </a:lnTo>
                <a:lnTo>
                  <a:pt x="0" y="67129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4129766">
            <a:off x="5274988" y="8791276"/>
            <a:ext cx="671296" cy="671296"/>
          </a:xfrm>
          <a:custGeom>
            <a:avLst/>
            <a:gdLst/>
            <a:ahLst/>
            <a:cxnLst/>
            <a:rect r="r" b="b" t="t" l="l"/>
            <a:pathLst>
              <a:path h="671296" w="671296">
                <a:moveTo>
                  <a:pt x="0" y="0"/>
                </a:moveTo>
                <a:lnTo>
                  <a:pt x="671296" y="0"/>
                </a:lnTo>
                <a:lnTo>
                  <a:pt x="671296" y="671295"/>
                </a:lnTo>
                <a:lnTo>
                  <a:pt x="0" y="67129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5" id="15"/>
          <p:cNvSpPr txBox="true"/>
          <p:nvPr/>
        </p:nvSpPr>
        <p:spPr>
          <a:xfrm rot="0">
            <a:off x="7765186" y="5010082"/>
            <a:ext cx="3828139" cy="1333500"/>
          </a:xfrm>
          <a:prstGeom prst="rect">
            <a:avLst/>
          </a:prstGeom>
        </p:spPr>
        <p:txBody>
          <a:bodyPr anchor="t" rtlCol="false" tIns="0" lIns="0" bIns="0" rIns="0">
            <a:spAutoFit/>
          </a:bodyPr>
          <a:lstStyle/>
          <a:p>
            <a:pPr algn="l">
              <a:lnSpc>
                <a:spcPts val="2627"/>
              </a:lnSpc>
            </a:pPr>
            <a:r>
              <a:rPr lang="en-US" sz="2189">
                <a:solidFill>
                  <a:srgbClr val="FFFAF7"/>
                </a:solidFill>
                <a:latin typeface="Comic Sans"/>
                <a:ea typeface="Comic Sans"/>
                <a:cs typeface="Comic Sans"/>
                <a:sym typeface="Comic Sans"/>
              </a:rPr>
              <a:t>Contexto</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Hogar</a:t>
            </a:r>
            <a:r>
              <a:rPr lang="en-US" sz="2189">
                <a:solidFill>
                  <a:srgbClr val="FFFAF7"/>
                </a:solidFill>
                <a:latin typeface="Comic Sans"/>
                <a:ea typeface="Comic Sans"/>
                <a:cs typeface="Comic Sans"/>
                <a:sym typeface="Comic Sans"/>
              </a:rPr>
              <a:t>es chilenos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Personas y familias</a:t>
            </a:r>
          </a:p>
          <a:p>
            <a:pPr algn="l">
              <a:lnSpc>
                <a:spcPts val="2627"/>
              </a:lnSpc>
            </a:pPr>
          </a:p>
        </p:txBody>
      </p:sp>
      <p:sp>
        <p:nvSpPr>
          <p:cNvPr name="TextBox 16" id="16"/>
          <p:cNvSpPr txBox="true"/>
          <p:nvPr/>
        </p:nvSpPr>
        <p:spPr>
          <a:xfrm rot="0">
            <a:off x="11808939" y="5037335"/>
            <a:ext cx="3828139" cy="1666875"/>
          </a:xfrm>
          <a:prstGeom prst="rect">
            <a:avLst/>
          </a:prstGeom>
        </p:spPr>
        <p:txBody>
          <a:bodyPr anchor="t" rtlCol="false" tIns="0" lIns="0" bIns="0" rIns="0">
            <a:spAutoFit/>
          </a:bodyPr>
          <a:lstStyle/>
          <a:p>
            <a:pPr algn="l">
              <a:lnSpc>
                <a:spcPts val="2627"/>
              </a:lnSpc>
            </a:pPr>
            <a:r>
              <a:rPr lang="en-US" sz="2189">
                <a:solidFill>
                  <a:srgbClr val="FFFAF7"/>
                </a:solidFill>
                <a:latin typeface="Comic Sans"/>
                <a:ea typeface="Comic Sans"/>
                <a:cs typeface="Comic Sans"/>
                <a:sym typeface="Comic Sans"/>
              </a:rPr>
              <a:t>Oportunidad</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G</a:t>
            </a:r>
            <a:r>
              <a:rPr lang="en-US" sz="2189">
                <a:solidFill>
                  <a:srgbClr val="FFFAF7"/>
                </a:solidFill>
                <a:latin typeface="Comic Sans"/>
                <a:ea typeface="Comic Sans"/>
                <a:cs typeface="Comic Sans"/>
                <a:sym typeface="Comic Sans"/>
              </a:rPr>
              <a:t>estión eficiente de alimentos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Uso de tecnología</a:t>
            </a:r>
          </a:p>
          <a:p>
            <a:pPr algn="l">
              <a:lnSpc>
                <a:spcPts val="2627"/>
              </a:lnSpc>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0">
            <a:off x="411244" y="734262"/>
            <a:ext cx="9910996" cy="9204837"/>
          </a:xfrm>
          <a:custGeom>
            <a:avLst/>
            <a:gdLst/>
            <a:ahLst/>
            <a:cxnLst/>
            <a:rect r="r" b="b" t="t" l="l"/>
            <a:pathLst>
              <a:path h="9204837" w="9910996">
                <a:moveTo>
                  <a:pt x="0" y="0"/>
                </a:moveTo>
                <a:lnTo>
                  <a:pt x="9910995" y="0"/>
                </a:lnTo>
                <a:lnTo>
                  <a:pt x="9910995" y="9204837"/>
                </a:lnTo>
                <a:lnTo>
                  <a:pt x="0" y="920483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10483490" y="4001820"/>
            <a:ext cx="7625904" cy="2407185"/>
          </a:xfrm>
          <a:prstGeom prst="rect">
            <a:avLst/>
          </a:prstGeom>
        </p:spPr>
        <p:txBody>
          <a:bodyPr anchor="t" rtlCol="false" tIns="0" lIns="0" bIns="0" rIns="0">
            <a:spAutoFit/>
          </a:bodyPr>
          <a:lstStyle/>
          <a:p>
            <a:pPr algn="l">
              <a:lnSpc>
                <a:spcPts val="8916"/>
              </a:lnSpc>
            </a:pPr>
            <a:r>
              <a:rPr lang="en-US" sz="9288" b="true">
                <a:solidFill>
                  <a:srgbClr val="D27A2F"/>
                </a:solidFill>
                <a:latin typeface="Childos Arabic Bold"/>
                <a:ea typeface="Childos Arabic Bold"/>
                <a:cs typeface="Childos Arabic Bold"/>
                <a:sym typeface="Childos Arabic Bold"/>
              </a:rPr>
              <a:t>Propuesta de solución</a:t>
            </a:r>
          </a:p>
        </p:txBody>
      </p:sp>
      <p:sp>
        <p:nvSpPr>
          <p:cNvPr name="Freeform 4" id="4"/>
          <p:cNvSpPr/>
          <p:nvPr/>
        </p:nvSpPr>
        <p:spPr>
          <a:xfrm flipH="false" flipV="false" rot="1104527">
            <a:off x="-2131942" y="7649703"/>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9323303">
            <a:off x="12379187" y="-2842614"/>
            <a:ext cx="6737952" cy="6249450"/>
          </a:xfrm>
          <a:custGeom>
            <a:avLst/>
            <a:gdLst/>
            <a:ahLst/>
            <a:cxnLst/>
            <a:rect r="r" b="b" t="t" l="l"/>
            <a:pathLst>
              <a:path h="6249450" w="6737952">
                <a:moveTo>
                  <a:pt x="0" y="0"/>
                </a:moveTo>
                <a:lnTo>
                  <a:pt x="6737951" y="0"/>
                </a:lnTo>
                <a:lnTo>
                  <a:pt x="6737951"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8247948">
            <a:off x="15019356" y="6434607"/>
            <a:ext cx="2411733" cy="4909381"/>
          </a:xfrm>
          <a:custGeom>
            <a:avLst/>
            <a:gdLst/>
            <a:ahLst/>
            <a:cxnLst/>
            <a:rect r="r" b="b" t="t" l="l"/>
            <a:pathLst>
              <a:path h="4909381" w="2411733">
                <a:moveTo>
                  <a:pt x="0" y="0"/>
                </a:moveTo>
                <a:lnTo>
                  <a:pt x="2411733" y="0"/>
                </a:lnTo>
                <a:lnTo>
                  <a:pt x="2411733" y="4909381"/>
                </a:lnTo>
                <a:lnTo>
                  <a:pt x="0" y="49093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742372">
            <a:off x="-838527" y="-1568142"/>
            <a:ext cx="4151122" cy="4114800"/>
          </a:xfrm>
          <a:custGeom>
            <a:avLst/>
            <a:gdLst/>
            <a:ahLst/>
            <a:cxnLst/>
            <a:rect r="r" b="b" t="t" l="l"/>
            <a:pathLst>
              <a:path h="4114800" w="4151122">
                <a:moveTo>
                  <a:pt x="0" y="0"/>
                </a:moveTo>
                <a:lnTo>
                  <a:pt x="4151122" y="0"/>
                </a:lnTo>
                <a:lnTo>
                  <a:pt x="4151122"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843637">
            <a:off x="8311645" y="1957904"/>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4129766">
            <a:off x="5310613" y="8760479"/>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4129766">
            <a:off x="11261543" y="1687875"/>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831966">
            <a:off x="9359165" y="7881699"/>
            <a:ext cx="2798064" cy="4114800"/>
          </a:xfrm>
          <a:custGeom>
            <a:avLst/>
            <a:gdLst/>
            <a:ahLst/>
            <a:cxnLst/>
            <a:rect r="r" b="b" t="t" l="l"/>
            <a:pathLst>
              <a:path h="4114800" w="2798064">
                <a:moveTo>
                  <a:pt x="0" y="0"/>
                </a:moveTo>
                <a:lnTo>
                  <a:pt x="2798064" y="0"/>
                </a:lnTo>
                <a:lnTo>
                  <a:pt x="2798064"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14454037" y="6925573"/>
            <a:ext cx="1556143" cy="2057400"/>
          </a:xfrm>
          <a:custGeom>
            <a:avLst/>
            <a:gdLst/>
            <a:ahLst/>
            <a:cxnLst/>
            <a:rect r="r" b="b" t="t" l="l"/>
            <a:pathLst>
              <a:path h="2057400" w="1556143">
                <a:moveTo>
                  <a:pt x="0" y="0"/>
                </a:moveTo>
                <a:lnTo>
                  <a:pt x="1556143" y="0"/>
                </a:lnTo>
                <a:lnTo>
                  <a:pt x="1556143" y="2057400"/>
                </a:lnTo>
                <a:lnTo>
                  <a:pt x="0" y="205740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3" id="13"/>
          <p:cNvSpPr txBox="true"/>
          <p:nvPr/>
        </p:nvSpPr>
        <p:spPr>
          <a:xfrm rot="0">
            <a:off x="1332848" y="3877995"/>
            <a:ext cx="4087534" cy="3238500"/>
          </a:xfrm>
          <a:prstGeom prst="rect">
            <a:avLst/>
          </a:prstGeom>
        </p:spPr>
        <p:txBody>
          <a:bodyPr anchor="t" rtlCol="false" tIns="0" lIns="0" bIns="0" rIns="0">
            <a:spAutoFit/>
          </a:bodyPr>
          <a:lstStyle/>
          <a:p>
            <a:pPr algn="l">
              <a:lnSpc>
                <a:spcPts val="2561"/>
              </a:lnSpc>
            </a:pPr>
            <a:r>
              <a:rPr lang="en-US" sz="2134">
                <a:solidFill>
                  <a:srgbClr val="FFFAF7"/>
                </a:solidFill>
                <a:latin typeface="Comic Sans"/>
                <a:ea typeface="Comic Sans"/>
                <a:cs typeface="Comic Sans"/>
                <a:sym typeface="Comic Sans"/>
              </a:rPr>
              <a:t> 📱​ ​NFC-FoodTech</a:t>
            </a:r>
          </a:p>
          <a:p>
            <a:pPr algn="l" marL="460783" indent="-230392" lvl="1">
              <a:lnSpc>
                <a:spcPts val="2561"/>
              </a:lnSpc>
              <a:buFont typeface="Arial"/>
              <a:buChar char="•"/>
            </a:pPr>
            <a:r>
              <a:rPr lang="en-US" sz="2134">
                <a:solidFill>
                  <a:srgbClr val="FFFAF7"/>
                </a:solidFill>
                <a:latin typeface="Comic Sans"/>
                <a:ea typeface="Comic Sans"/>
                <a:cs typeface="Comic Sans"/>
                <a:sym typeface="Comic Sans"/>
              </a:rPr>
              <a:t>Aplicación móvil para la gestión inteligente de alimentos en el hogar.</a:t>
            </a:r>
          </a:p>
          <a:p>
            <a:pPr algn="l">
              <a:lnSpc>
                <a:spcPts val="2561"/>
              </a:lnSpc>
            </a:pPr>
            <a:r>
              <a:rPr lang="en-US" sz="2134">
                <a:solidFill>
                  <a:srgbClr val="FFFAF7"/>
                </a:solidFill>
                <a:latin typeface="Comic Sans"/>
                <a:ea typeface="Comic Sans"/>
                <a:cs typeface="Comic Sans"/>
                <a:sym typeface="Comic Sans"/>
              </a:rPr>
              <a:t> 📦</a:t>
            </a:r>
            <a:r>
              <a:rPr lang="en-US" sz="2134">
                <a:solidFill>
                  <a:srgbClr val="FFFAF7"/>
                </a:solidFill>
                <a:latin typeface="Comic Sans"/>
                <a:ea typeface="Comic Sans"/>
                <a:cs typeface="Comic Sans"/>
                <a:sym typeface="Comic Sans"/>
              </a:rPr>
              <a:t> REGISTRAR</a:t>
            </a:r>
          </a:p>
          <a:p>
            <a:pPr algn="l" marL="460783" indent="-230392" lvl="1">
              <a:lnSpc>
                <a:spcPts val="2561"/>
              </a:lnSpc>
              <a:buFont typeface="Arial"/>
              <a:buChar char="•"/>
            </a:pPr>
            <a:r>
              <a:rPr lang="en-US" sz="2134">
                <a:solidFill>
                  <a:srgbClr val="FFFAF7"/>
                </a:solidFill>
                <a:latin typeface="Comic Sans"/>
                <a:ea typeface="Comic Sans"/>
                <a:cs typeface="Comic Sans"/>
                <a:sym typeface="Comic Sans"/>
              </a:rPr>
              <a:t> Escaneo rápido de productos</a:t>
            </a:r>
          </a:p>
          <a:p>
            <a:pPr algn="l">
              <a:lnSpc>
                <a:spcPts val="2561"/>
              </a:lnSpc>
            </a:pPr>
            <a:r>
              <a:rPr lang="en-US" sz="2134">
                <a:solidFill>
                  <a:srgbClr val="FFFAF7"/>
                </a:solidFill>
                <a:latin typeface="Comic Sans"/>
                <a:ea typeface="Comic Sans"/>
                <a:cs typeface="Comic Sans"/>
                <a:sym typeface="Comic Sans"/>
              </a:rPr>
              <a:t> </a:t>
            </a:r>
            <a:r>
              <a:rPr lang="en-US" sz="2134">
                <a:solidFill>
                  <a:srgbClr val="FFFAF7"/>
                </a:solidFill>
                <a:latin typeface="Comic Sans"/>
                <a:ea typeface="Comic Sans"/>
                <a:cs typeface="Comic Sans"/>
                <a:sym typeface="Comic Sans"/>
              </a:rPr>
              <a:t>⏰ CONTROLAR</a:t>
            </a:r>
          </a:p>
          <a:p>
            <a:pPr algn="l" marL="460783" indent="-230392" lvl="1">
              <a:lnSpc>
                <a:spcPts val="2561"/>
              </a:lnSpc>
              <a:buFont typeface="Arial"/>
              <a:buChar char="•"/>
            </a:pPr>
            <a:r>
              <a:rPr lang="en-US" sz="2134">
                <a:solidFill>
                  <a:srgbClr val="FFFAF7"/>
                </a:solidFill>
                <a:latin typeface="Comic Sans"/>
                <a:ea typeface="Comic Sans"/>
                <a:cs typeface="Comic Sans"/>
                <a:sym typeface="Comic Sans"/>
              </a:rPr>
              <a:t> Caducidad y alertas</a:t>
            </a:r>
          </a:p>
          <a:p>
            <a:pPr algn="l">
              <a:lnSpc>
                <a:spcPts val="2561"/>
              </a:lnSpc>
            </a:pPr>
          </a:p>
        </p:txBody>
      </p:sp>
      <p:sp>
        <p:nvSpPr>
          <p:cNvPr name="TextBox 14" id="14"/>
          <p:cNvSpPr txBox="true"/>
          <p:nvPr/>
        </p:nvSpPr>
        <p:spPr>
          <a:xfrm rot="0">
            <a:off x="5212049" y="3669806"/>
            <a:ext cx="4141868" cy="3343275"/>
          </a:xfrm>
          <a:prstGeom prst="rect">
            <a:avLst/>
          </a:prstGeom>
        </p:spPr>
        <p:txBody>
          <a:bodyPr anchor="t" rtlCol="false" tIns="0" lIns="0" bIns="0" rIns="0">
            <a:spAutoFit/>
          </a:bodyPr>
          <a:lstStyle/>
          <a:p>
            <a:pPr algn="ctr">
              <a:lnSpc>
                <a:spcPts val="2472"/>
              </a:lnSpc>
            </a:pPr>
          </a:p>
          <a:p>
            <a:pPr algn="l">
              <a:lnSpc>
                <a:spcPts val="2472"/>
              </a:lnSpc>
            </a:pPr>
            <a:r>
              <a:rPr lang="en-US" sz="2060">
                <a:solidFill>
                  <a:srgbClr val="FFFAF7"/>
                </a:solidFill>
                <a:latin typeface="Comic Sans"/>
                <a:ea typeface="Comic Sans"/>
                <a:cs typeface="Comic Sans"/>
                <a:sym typeface="Comic Sans"/>
              </a:rPr>
              <a:t> </a:t>
            </a:r>
            <a:r>
              <a:rPr lang="en-US" sz="2060">
                <a:solidFill>
                  <a:srgbClr val="FFFAF7"/>
                </a:solidFill>
                <a:latin typeface="Comic Sans"/>
                <a:ea typeface="Comic Sans"/>
                <a:cs typeface="Comic Sans"/>
                <a:sym typeface="Comic Sans"/>
              </a:rPr>
              <a:t>🍽️ APROVECHAR</a:t>
            </a:r>
          </a:p>
          <a:p>
            <a:pPr algn="l" marL="444842" indent="-222421" lvl="1">
              <a:lnSpc>
                <a:spcPts val="2472"/>
              </a:lnSpc>
              <a:buFont typeface="Arial"/>
              <a:buChar char="•"/>
            </a:pPr>
            <a:r>
              <a:rPr lang="en-US" sz="2060">
                <a:solidFill>
                  <a:srgbClr val="FFFAF7"/>
                </a:solidFill>
                <a:latin typeface="Comic Sans"/>
                <a:ea typeface="Comic Sans"/>
                <a:cs typeface="Comic Sans"/>
                <a:sym typeface="Comic Sans"/>
              </a:rPr>
              <a:t> Consumo · recetas · alimentos próximos a caducar</a:t>
            </a:r>
          </a:p>
          <a:p>
            <a:pPr algn="l">
              <a:lnSpc>
                <a:spcPts val="2472"/>
              </a:lnSpc>
            </a:pPr>
            <a:r>
              <a:rPr lang="en-US" sz="2060">
                <a:solidFill>
                  <a:srgbClr val="FFFAF7"/>
                </a:solidFill>
                <a:latin typeface="Comic Sans"/>
                <a:ea typeface="Comic Sans"/>
                <a:cs typeface="Comic Sans"/>
                <a:sym typeface="Comic Sans"/>
              </a:rPr>
              <a:t> 🛒 PLANIFICAR</a:t>
            </a:r>
          </a:p>
          <a:p>
            <a:pPr algn="l" marL="444842" indent="-222421" lvl="1">
              <a:lnSpc>
                <a:spcPts val="2472"/>
              </a:lnSpc>
              <a:buFont typeface="Arial"/>
              <a:buChar char="•"/>
            </a:pPr>
            <a:r>
              <a:rPr lang="en-US" sz="2060">
                <a:solidFill>
                  <a:srgbClr val="FFFAF7"/>
                </a:solidFill>
                <a:latin typeface="Comic Sans"/>
                <a:ea typeface="Comic Sans"/>
                <a:cs typeface="Comic Sans"/>
                <a:sym typeface="Comic Sans"/>
              </a:rPr>
              <a:t> Compras según hábitos de consumo</a:t>
            </a:r>
          </a:p>
          <a:p>
            <a:pPr algn="l">
              <a:lnSpc>
                <a:spcPts val="2472"/>
              </a:lnSpc>
            </a:pPr>
            <a:r>
              <a:rPr lang="en-US" sz="2060">
                <a:solidFill>
                  <a:srgbClr val="FFFAF7"/>
                </a:solidFill>
                <a:latin typeface="Comic Sans"/>
                <a:ea typeface="Comic Sans"/>
                <a:cs typeface="Comic Sans"/>
                <a:sym typeface="Comic Sans"/>
              </a:rPr>
              <a:t> 📊 ANALIZAR</a:t>
            </a:r>
          </a:p>
          <a:p>
            <a:pPr algn="l" marL="444842" indent="-222421" lvl="1">
              <a:lnSpc>
                <a:spcPts val="2472"/>
              </a:lnSpc>
              <a:buFont typeface="Arial"/>
              <a:buChar char="•"/>
            </a:pPr>
            <a:r>
              <a:rPr lang="en-US" sz="2060">
                <a:solidFill>
                  <a:srgbClr val="FFFAF7"/>
                </a:solidFill>
                <a:latin typeface="Comic Sans"/>
                <a:ea typeface="Comic Sans"/>
                <a:cs typeface="Comic Sans"/>
                <a:sym typeface="Comic Sans"/>
              </a:rPr>
              <a:t> Desperdicio · ahorro · hábitos</a:t>
            </a:r>
          </a:p>
          <a:p>
            <a:pPr algn="l" marL="444842" indent="-222421" lvl="1">
              <a:lnSpc>
                <a:spcPts val="2472"/>
              </a:lnSpc>
              <a:buFont typeface="Arial"/>
              <a:buChar char="•"/>
            </a:pPr>
            <a:r>
              <a:rPr lang="en-US" sz="2060">
                <a:solidFill>
                  <a:srgbClr val="FFFAF7"/>
                </a:solidFill>
                <a:latin typeface="Comic Sans"/>
                <a:ea typeface="Comic Sans"/>
                <a:cs typeface="Comic Sans"/>
                <a:sym typeface="Comic Sans"/>
              </a:rPr>
              <a:t>Bancos de alimentos.</a:t>
            </a:r>
          </a:p>
          <a:p>
            <a:pPr algn="l">
              <a:lnSpc>
                <a:spcPts val="2472"/>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65638">
            <a:off x="2521807" y="1181221"/>
            <a:ext cx="13244387" cy="7924558"/>
          </a:xfrm>
          <a:custGeom>
            <a:avLst/>
            <a:gdLst/>
            <a:ahLst/>
            <a:cxnLst/>
            <a:rect r="r" b="b" t="t" l="l"/>
            <a:pathLst>
              <a:path h="7924558" w="13244387">
                <a:moveTo>
                  <a:pt x="0" y="0"/>
                </a:moveTo>
                <a:lnTo>
                  <a:pt x="13244386" y="0"/>
                </a:lnTo>
                <a:lnTo>
                  <a:pt x="13244386" y="7924558"/>
                </a:lnTo>
                <a:lnTo>
                  <a:pt x="0" y="79245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28092">
            <a:off x="-2340276" y="6927747"/>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323303">
            <a:off x="14263824" y="-2433533"/>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8247948">
            <a:off x="15370504" y="6394999"/>
            <a:ext cx="2411733" cy="4909381"/>
          </a:xfrm>
          <a:custGeom>
            <a:avLst/>
            <a:gdLst/>
            <a:ahLst/>
            <a:cxnLst/>
            <a:rect r="r" b="b" t="t" l="l"/>
            <a:pathLst>
              <a:path h="4909381" w="2411733">
                <a:moveTo>
                  <a:pt x="0" y="0"/>
                </a:moveTo>
                <a:lnTo>
                  <a:pt x="2411734" y="0"/>
                </a:lnTo>
                <a:lnTo>
                  <a:pt x="2411734" y="4909381"/>
                </a:lnTo>
                <a:lnTo>
                  <a:pt x="0" y="49093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843637">
            <a:off x="976721" y="4510250"/>
            <a:ext cx="999664" cy="999664"/>
          </a:xfrm>
          <a:custGeom>
            <a:avLst/>
            <a:gdLst/>
            <a:ahLst/>
            <a:cxnLst/>
            <a:rect r="r" b="b" t="t" l="l"/>
            <a:pathLst>
              <a:path h="999664" w="999664">
                <a:moveTo>
                  <a:pt x="0" y="0"/>
                </a:moveTo>
                <a:lnTo>
                  <a:pt x="999664" y="0"/>
                </a:lnTo>
                <a:lnTo>
                  <a:pt x="999664" y="999665"/>
                </a:lnTo>
                <a:lnTo>
                  <a:pt x="0" y="9996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2843637">
            <a:off x="16431643" y="572585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4129766">
            <a:off x="11907504" y="1127265"/>
            <a:ext cx="671296" cy="671296"/>
          </a:xfrm>
          <a:custGeom>
            <a:avLst/>
            <a:gdLst/>
            <a:ahLst/>
            <a:cxnLst/>
            <a:rect r="r" b="b" t="t" l="l"/>
            <a:pathLst>
              <a:path h="671296" w="671296">
                <a:moveTo>
                  <a:pt x="0" y="0"/>
                </a:moveTo>
                <a:lnTo>
                  <a:pt x="671295" y="0"/>
                </a:lnTo>
                <a:lnTo>
                  <a:pt x="671295" y="671295"/>
                </a:lnTo>
                <a:lnTo>
                  <a:pt x="0" y="671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4129766">
            <a:off x="5274988" y="8791276"/>
            <a:ext cx="671296" cy="671296"/>
          </a:xfrm>
          <a:custGeom>
            <a:avLst/>
            <a:gdLst/>
            <a:ahLst/>
            <a:cxnLst/>
            <a:rect r="r" b="b" t="t" l="l"/>
            <a:pathLst>
              <a:path h="671296" w="671296">
                <a:moveTo>
                  <a:pt x="0" y="0"/>
                </a:moveTo>
                <a:lnTo>
                  <a:pt x="671296" y="0"/>
                </a:lnTo>
                <a:lnTo>
                  <a:pt x="671296" y="671295"/>
                </a:lnTo>
                <a:lnTo>
                  <a:pt x="0" y="671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105621" y="5981715"/>
            <a:ext cx="3386883" cy="2961983"/>
          </a:xfrm>
          <a:custGeom>
            <a:avLst/>
            <a:gdLst/>
            <a:ahLst/>
            <a:cxnLst/>
            <a:rect r="r" b="b" t="t" l="l"/>
            <a:pathLst>
              <a:path h="2961983" w="3386883">
                <a:moveTo>
                  <a:pt x="0" y="0"/>
                </a:moveTo>
                <a:lnTo>
                  <a:pt x="3386883" y="0"/>
                </a:lnTo>
                <a:lnTo>
                  <a:pt x="3386883" y="2961982"/>
                </a:lnTo>
                <a:lnTo>
                  <a:pt x="0" y="29619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1295034">
            <a:off x="14055061" y="591292"/>
            <a:ext cx="2170162" cy="4101680"/>
          </a:xfrm>
          <a:custGeom>
            <a:avLst/>
            <a:gdLst/>
            <a:ahLst/>
            <a:cxnLst/>
            <a:rect r="r" b="b" t="t" l="l"/>
            <a:pathLst>
              <a:path h="4101680" w="2170162">
                <a:moveTo>
                  <a:pt x="0" y="0"/>
                </a:moveTo>
                <a:lnTo>
                  <a:pt x="2170161" y="0"/>
                </a:lnTo>
                <a:lnTo>
                  <a:pt x="2170161" y="4101680"/>
                </a:lnTo>
                <a:lnTo>
                  <a:pt x="0" y="410168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3" id="13"/>
          <p:cNvSpPr txBox="true"/>
          <p:nvPr/>
        </p:nvSpPr>
        <p:spPr>
          <a:xfrm rot="0">
            <a:off x="4259645" y="3900079"/>
            <a:ext cx="9768709" cy="1500015"/>
          </a:xfrm>
          <a:prstGeom prst="rect">
            <a:avLst/>
          </a:prstGeom>
        </p:spPr>
        <p:txBody>
          <a:bodyPr anchor="t" rtlCol="false" tIns="0" lIns="0" bIns="0" rIns="0">
            <a:spAutoFit/>
          </a:bodyPr>
          <a:lstStyle/>
          <a:p>
            <a:pPr algn="ctr">
              <a:lnSpc>
                <a:spcPts val="11146"/>
              </a:lnSpc>
              <a:spcBef>
                <a:spcPct val="0"/>
              </a:spcBef>
            </a:pPr>
            <a:r>
              <a:rPr lang="en-US" b="true" sz="9288">
                <a:solidFill>
                  <a:srgbClr val="FFFAF7"/>
                </a:solidFill>
                <a:latin typeface="Childos Arabic Bold"/>
                <a:ea typeface="Childos Arabic Bold"/>
                <a:cs typeface="Childos Arabic Bold"/>
                <a:sym typeface="Childos Arabic Bold"/>
              </a:rPr>
              <a:t>Objetivo General</a:t>
            </a:r>
          </a:p>
        </p:txBody>
      </p:sp>
      <p:sp>
        <p:nvSpPr>
          <p:cNvPr name="TextBox 14" id="14"/>
          <p:cNvSpPr txBox="true"/>
          <p:nvPr/>
        </p:nvSpPr>
        <p:spPr>
          <a:xfrm rot="0">
            <a:off x="5610636" y="5390533"/>
            <a:ext cx="7066728" cy="1789501"/>
          </a:xfrm>
          <a:prstGeom prst="rect">
            <a:avLst/>
          </a:prstGeom>
        </p:spPr>
        <p:txBody>
          <a:bodyPr anchor="t" rtlCol="false" tIns="0" lIns="0" bIns="0" rIns="0">
            <a:spAutoFit/>
          </a:bodyPr>
          <a:lstStyle/>
          <a:p>
            <a:pPr algn="ctr">
              <a:lnSpc>
                <a:spcPts val="2805"/>
              </a:lnSpc>
              <a:spcBef>
                <a:spcPct val="0"/>
              </a:spcBef>
            </a:pPr>
            <a:r>
              <a:rPr lang="en-US" sz="2337">
                <a:solidFill>
                  <a:srgbClr val="FFFAF7"/>
                </a:solidFill>
                <a:latin typeface="Comic Sans"/>
                <a:ea typeface="Comic Sans"/>
                <a:cs typeface="Comic Sans"/>
                <a:sym typeface="Comic Sans"/>
              </a:rPr>
              <a:t>Reducir el desp</a:t>
            </a:r>
            <a:r>
              <a:rPr lang="en-US" sz="2337">
                <a:solidFill>
                  <a:srgbClr val="FFFAF7"/>
                </a:solidFill>
                <a:latin typeface="Comic Sans"/>
                <a:ea typeface="Comic Sans"/>
                <a:cs typeface="Comic Sans"/>
                <a:sym typeface="Comic Sans"/>
              </a:rPr>
              <a:t>erdicio de alimentos en los hogares, promoviendo un consumo más eficiente y una mejor planificación de las compras a partir del conocimiento de los hábitos de consumo y desperdicio de cada hogar.</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8247948">
            <a:off x="15019356" y="6434607"/>
            <a:ext cx="2411733" cy="4909381"/>
          </a:xfrm>
          <a:custGeom>
            <a:avLst/>
            <a:gdLst/>
            <a:ahLst/>
            <a:cxnLst/>
            <a:rect r="r" b="b" t="t" l="l"/>
            <a:pathLst>
              <a:path h="4909381" w="2411733">
                <a:moveTo>
                  <a:pt x="0" y="0"/>
                </a:moveTo>
                <a:lnTo>
                  <a:pt x="2411733" y="0"/>
                </a:lnTo>
                <a:lnTo>
                  <a:pt x="2411733" y="4909381"/>
                </a:lnTo>
                <a:lnTo>
                  <a:pt x="0" y="49093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72004">
            <a:off x="4064525" y="8141652"/>
            <a:ext cx="6737952" cy="6249450"/>
          </a:xfrm>
          <a:custGeom>
            <a:avLst/>
            <a:gdLst/>
            <a:ahLst/>
            <a:cxnLst/>
            <a:rect r="r" b="b" t="t" l="l"/>
            <a:pathLst>
              <a:path h="6249450" w="6737952">
                <a:moveTo>
                  <a:pt x="0" y="0"/>
                </a:moveTo>
                <a:lnTo>
                  <a:pt x="6737951" y="0"/>
                </a:lnTo>
                <a:lnTo>
                  <a:pt x="6737951" y="6249451"/>
                </a:lnTo>
                <a:lnTo>
                  <a:pt x="0" y="62494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056968" y="1761457"/>
            <a:ext cx="7740064" cy="6446828"/>
          </a:xfrm>
          <a:custGeom>
            <a:avLst/>
            <a:gdLst/>
            <a:ahLst/>
            <a:cxnLst/>
            <a:rect r="r" b="b" t="t" l="l"/>
            <a:pathLst>
              <a:path h="6446828" w="7740064">
                <a:moveTo>
                  <a:pt x="0" y="0"/>
                </a:moveTo>
                <a:lnTo>
                  <a:pt x="7740064" y="0"/>
                </a:lnTo>
                <a:lnTo>
                  <a:pt x="7740064" y="6446828"/>
                </a:lnTo>
                <a:lnTo>
                  <a:pt x="0" y="64468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923202" y="8208285"/>
            <a:ext cx="2231609" cy="2656678"/>
          </a:xfrm>
          <a:custGeom>
            <a:avLst/>
            <a:gdLst/>
            <a:ahLst/>
            <a:cxnLst/>
            <a:rect r="r" b="b" t="t" l="l"/>
            <a:pathLst>
              <a:path h="2656678" w="2231609">
                <a:moveTo>
                  <a:pt x="0" y="0"/>
                </a:moveTo>
                <a:lnTo>
                  <a:pt x="2231609" y="0"/>
                </a:lnTo>
                <a:lnTo>
                  <a:pt x="2231609" y="2656677"/>
                </a:lnTo>
                <a:lnTo>
                  <a:pt x="0" y="26566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323303">
            <a:off x="14268751" y="-2550413"/>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2843637">
            <a:off x="1235120" y="4313353"/>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2843637">
            <a:off x="16431643" y="572585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4129766">
            <a:off x="5214950" y="7872637"/>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4129766">
            <a:off x="12025565" y="693052"/>
            <a:ext cx="671296" cy="671296"/>
          </a:xfrm>
          <a:custGeom>
            <a:avLst/>
            <a:gdLst/>
            <a:ahLst/>
            <a:cxnLst/>
            <a:rect r="r" b="b" t="t" l="l"/>
            <a:pathLst>
              <a:path h="671296" w="671296">
                <a:moveTo>
                  <a:pt x="0" y="0"/>
                </a:moveTo>
                <a:lnTo>
                  <a:pt x="671295" y="0"/>
                </a:lnTo>
                <a:lnTo>
                  <a:pt x="671295" y="671296"/>
                </a:lnTo>
                <a:lnTo>
                  <a:pt x="0" y="6712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2287380">
            <a:off x="5489319" y="-309530"/>
            <a:ext cx="3014261" cy="3116247"/>
          </a:xfrm>
          <a:custGeom>
            <a:avLst/>
            <a:gdLst/>
            <a:ahLst/>
            <a:cxnLst/>
            <a:rect r="r" b="b" t="t" l="l"/>
            <a:pathLst>
              <a:path h="3116247" w="3014261">
                <a:moveTo>
                  <a:pt x="0" y="0"/>
                </a:moveTo>
                <a:lnTo>
                  <a:pt x="3014261" y="0"/>
                </a:lnTo>
                <a:lnTo>
                  <a:pt x="3014261" y="3116247"/>
                </a:lnTo>
                <a:lnTo>
                  <a:pt x="0" y="311624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204967" y="6443954"/>
            <a:ext cx="3797352" cy="3896536"/>
          </a:xfrm>
          <a:custGeom>
            <a:avLst/>
            <a:gdLst/>
            <a:ahLst/>
            <a:cxnLst/>
            <a:rect r="r" b="b" t="t" l="l"/>
            <a:pathLst>
              <a:path h="3896536" w="3797352">
                <a:moveTo>
                  <a:pt x="0" y="0"/>
                </a:moveTo>
                <a:lnTo>
                  <a:pt x="3797352" y="0"/>
                </a:lnTo>
                <a:lnTo>
                  <a:pt x="3797352" y="3896536"/>
                </a:lnTo>
                <a:lnTo>
                  <a:pt x="0" y="389653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4" id="14"/>
          <p:cNvSpPr txBox="true"/>
          <p:nvPr/>
        </p:nvSpPr>
        <p:spPr>
          <a:xfrm rot="0">
            <a:off x="2664055" y="3850792"/>
            <a:ext cx="5106308" cy="2765176"/>
          </a:xfrm>
          <a:prstGeom prst="rect">
            <a:avLst/>
          </a:prstGeom>
        </p:spPr>
        <p:txBody>
          <a:bodyPr anchor="t" rtlCol="false" tIns="0" lIns="0" bIns="0" rIns="0">
            <a:spAutoFit/>
          </a:bodyPr>
          <a:lstStyle/>
          <a:p>
            <a:pPr algn="l">
              <a:lnSpc>
                <a:spcPts val="6925"/>
              </a:lnSpc>
            </a:pPr>
            <a:r>
              <a:rPr lang="en-US" sz="7213" b="true">
                <a:solidFill>
                  <a:srgbClr val="D27A2F"/>
                </a:solidFill>
                <a:latin typeface="Childos Arabic Bold"/>
                <a:ea typeface="Childos Arabic Bold"/>
                <a:cs typeface="Childos Arabic Bold"/>
                <a:sym typeface="Childos Arabic Bold"/>
              </a:rPr>
              <a:t>Adopción de sugerencias de recetas</a:t>
            </a:r>
          </a:p>
        </p:txBody>
      </p:sp>
      <p:sp>
        <p:nvSpPr>
          <p:cNvPr name="TextBox 15" id="15"/>
          <p:cNvSpPr txBox="true"/>
          <p:nvPr/>
        </p:nvSpPr>
        <p:spPr>
          <a:xfrm rot="0">
            <a:off x="9796199" y="3709994"/>
            <a:ext cx="4261601" cy="2857486"/>
          </a:xfrm>
          <a:prstGeom prst="rect">
            <a:avLst/>
          </a:prstGeom>
        </p:spPr>
        <p:txBody>
          <a:bodyPr anchor="t" rtlCol="false" tIns="0" lIns="0" bIns="0" rIns="0">
            <a:spAutoFit/>
          </a:bodyPr>
          <a:lstStyle/>
          <a:p>
            <a:pPr algn="ctr">
              <a:lnSpc>
                <a:spcPts val="2805"/>
              </a:lnSpc>
            </a:pPr>
            <a:r>
              <a:rPr lang="en-US" sz="2337">
                <a:solidFill>
                  <a:srgbClr val="FFFAF7"/>
                </a:solidFill>
                <a:latin typeface="Comic Sans"/>
                <a:ea typeface="Comic Sans"/>
                <a:cs typeface="Comic Sans"/>
                <a:sym typeface="Comic Sans"/>
              </a:rPr>
              <a:t>Incrementar en un 30% la preparación de recetas basadas en ingredientes próximos a vencer, midiendo el avance al sexto mes respecto a la línea de base del primer mes.</a:t>
            </a:r>
          </a:p>
          <a:p>
            <a:pPr algn="ctr">
              <a:lnSpc>
                <a:spcPts val="2805"/>
              </a:lnSpc>
              <a:spcBef>
                <a:spcPct val="0"/>
              </a:spcBef>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8247948">
            <a:off x="15019356" y="6434607"/>
            <a:ext cx="2411733" cy="4909381"/>
          </a:xfrm>
          <a:custGeom>
            <a:avLst/>
            <a:gdLst/>
            <a:ahLst/>
            <a:cxnLst/>
            <a:rect r="r" b="b" t="t" l="l"/>
            <a:pathLst>
              <a:path h="4909381" w="2411733">
                <a:moveTo>
                  <a:pt x="0" y="0"/>
                </a:moveTo>
                <a:lnTo>
                  <a:pt x="2411733" y="0"/>
                </a:lnTo>
                <a:lnTo>
                  <a:pt x="2411733" y="4909381"/>
                </a:lnTo>
                <a:lnTo>
                  <a:pt x="0" y="49093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72004">
            <a:off x="4064525" y="8141652"/>
            <a:ext cx="6737952" cy="6249450"/>
          </a:xfrm>
          <a:custGeom>
            <a:avLst/>
            <a:gdLst/>
            <a:ahLst/>
            <a:cxnLst/>
            <a:rect r="r" b="b" t="t" l="l"/>
            <a:pathLst>
              <a:path h="6249450" w="6737952">
                <a:moveTo>
                  <a:pt x="0" y="0"/>
                </a:moveTo>
                <a:lnTo>
                  <a:pt x="6737951" y="0"/>
                </a:lnTo>
                <a:lnTo>
                  <a:pt x="6737951" y="6249451"/>
                </a:lnTo>
                <a:lnTo>
                  <a:pt x="0" y="62494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056968" y="1761457"/>
            <a:ext cx="7740064" cy="6446828"/>
          </a:xfrm>
          <a:custGeom>
            <a:avLst/>
            <a:gdLst/>
            <a:ahLst/>
            <a:cxnLst/>
            <a:rect r="r" b="b" t="t" l="l"/>
            <a:pathLst>
              <a:path h="6446828" w="7740064">
                <a:moveTo>
                  <a:pt x="0" y="0"/>
                </a:moveTo>
                <a:lnTo>
                  <a:pt x="7740064" y="0"/>
                </a:lnTo>
                <a:lnTo>
                  <a:pt x="7740064" y="6446828"/>
                </a:lnTo>
                <a:lnTo>
                  <a:pt x="0" y="64468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923202" y="8208285"/>
            <a:ext cx="2231609" cy="2656678"/>
          </a:xfrm>
          <a:custGeom>
            <a:avLst/>
            <a:gdLst/>
            <a:ahLst/>
            <a:cxnLst/>
            <a:rect r="r" b="b" t="t" l="l"/>
            <a:pathLst>
              <a:path h="2656678" w="2231609">
                <a:moveTo>
                  <a:pt x="0" y="0"/>
                </a:moveTo>
                <a:lnTo>
                  <a:pt x="2231609" y="0"/>
                </a:lnTo>
                <a:lnTo>
                  <a:pt x="2231609" y="2656677"/>
                </a:lnTo>
                <a:lnTo>
                  <a:pt x="0" y="26566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323303">
            <a:off x="14268751" y="-2550413"/>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2843637">
            <a:off x="1235120" y="4313353"/>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2843637">
            <a:off x="16431643" y="572585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4129766">
            <a:off x="5214950" y="7872637"/>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4129766">
            <a:off x="12025565" y="693052"/>
            <a:ext cx="671296" cy="671296"/>
          </a:xfrm>
          <a:custGeom>
            <a:avLst/>
            <a:gdLst/>
            <a:ahLst/>
            <a:cxnLst/>
            <a:rect r="r" b="b" t="t" l="l"/>
            <a:pathLst>
              <a:path h="671296" w="671296">
                <a:moveTo>
                  <a:pt x="0" y="0"/>
                </a:moveTo>
                <a:lnTo>
                  <a:pt x="671295" y="0"/>
                </a:lnTo>
                <a:lnTo>
                  <a:pt x="671295" y="671296"/>
                </a:lnTo>
                <a:lnTo>
                  <a:pt x="0" y="6712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2287380">
            <a:off x="5489319" y="-309530"/>
            <a:ext cx="3014261" cy="3116247"/>
          </a:xfrm>
          <a:custGeom>
            <a:avLst/>
            <a:gdLst/>
            <a:ahLst/>
            <a:cxnLst/>
            <a:rect r="r" b="b" t="t" l="l"/>
            <a:pathLst>
              <a:path h="3116247" w="3014261">
                <a:moveTo>
                  <a:pt x="0" y="0"/>
                </a:moveTo>
                <a:lnTo>
                  <a:pt x="3014261" y="0"/>
                </a:lnTo>
                <a:lnTo>
                  <a:pt x="3014261" y="3116247"/>
                </a:lnTo>
                <a:lnTo>
                  <a:pt x="0" y="311624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204967" y="6443954"/>
            <a:ext cx="3797352" cy="3896536"/>
          </a:xfrm>
          <a:custGeom>
            <a:avLst/>
            <a:gdLst/>
            <a:ahLst/>
            <a:cxnLst/>
            <a:rect r="r" b="b" t="t" l="l"/>
            <a:pathLst>
              <a:path h="3896536" w="3797352">
                <a:moveTo>
                  <a:pt x="0" y="0"/>
                </a:moveTo>
                <a:lnTo>
                  <a:pt x="3797352" y="0"/>
                </a:lnTo>
                <a:lnTo>
                  <a:pt x="3797352" y="3896536"/>
                </a:lnTo>
                <a:lnTo>
                  <a:pt x="0" y="389653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4" id="14"/>
          <p:cNvSpPr txBox="true"/>
          <p:nvPr/>
        </p:nvSpPr>
        <p:spPr>
          <a:xfrm rot="0">
            <a:off x="2664055" y="3850792"/>
            <a:ext cx="5106308" cy="3642182"/>
          </a:xfrm>
          <a:prstGeom prst="rect">
            <a:avLst/>
          </a:prstGeom>
        </p:spPr>
        <p:txBody>
          <a:bodyPr anchor="t" rtlCol="false" tIns="0" lIns="0" bIns="0" rIns="0">
            <a:spAutoFit/>
          </a:bodyPr>
          <a:lstStyle/>
          <a:p>
            <a:pPr algn="l">
              <a:lnSpc>
                <a:spcPts val="6925"/>
              </a:lnSpc>
            </a:pPr>
            <a:r>
              <a:rPr lang="en-US" sz="7213" b="true">
                <a:solidFill>
                  <a:srgbClr val="D27A2F"/>
                </a:solidFill>
                <a:latin typeface="Childos Arabic Bold"/>
                <a:ea typeface="Childos Arabic Bold"/>
                <a:cs typeface="Childos Arabic Bold"/>
                <a:sym typeface="Childos Arabic Bold"/>
              </a:rPr>
              <a:t>Atención a alertas y consumo preventivo</a:t>
            </a:r>
          </a:p>
        </p:txBody>
      </p:sp>
      <p:sp>
        <p:nvSpPr>
          <p:cNvPr name="TextBox 15" id="15"/>
          <p:cNvSpPr txBox="true"/>
          <p:nvPr/>
        </p:nvSpPr>
        <p:spPr>
          <a:xfrm rot="0">
            <a:off x="9796199" y="3709994"/>
            <a:ext cx="4261601" cy="2857486"/>
          </a:xfrm>
          <a:prstGeom prst="rect">
            <a:avLst/>
          </a:prstGeom>
        </p:spPr>
        <p:txBody>
          <a:bodyPr anchor="t" rtlCol="false" tIns="0" lIns="0" bIns="0" rIns="0">
            <a:spAutoFit/>
          </a:bodyPr>
          <a:lstStyle/>
          <a:p>
            <a:pPr algn="ctr">
              <a:lnSpc>
                <a:spcPts val="2805"/>
              </a:lnSpc>
              <a:spcBef>
                <a:spcPct val="0"/>
              </a:spcBef>
            </a:pPr>
            <a:r>
              <a:rPr lang="en-US" sz="2337">
                <a:solidFill>
                  <a:srgbClr val="FFFAF7"/>
                </a:solidFill>
                <a:latin typeface="Comic Sans"/>
                <a:ea typeface="Comic Sans"/>
                <a:cs typeface="Comic Sans"/>
                <a:sym typeface="Comic Sans"/>
              </a:rPr>
              <a:t>Acrecentar en un 35% la tasa de consumo de alimentos que cuenten con una notificación activa de caducidad próximo, al sexto mes de uso de cada hogar, respecto de la línea base registrada en el primer mes.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0">
            <a:off x="1563969" y="2531541"/>
            <a:ext cx="7242809" cy="6726759"/>
          </a:xfrm>
          <a:custGeom>
            <a:avLst/>
            <a:gdLst/>
            <a:ahLst/>
            <a:cxnLst/>
            <a:rect r="r" b="b" t="t" l="l"/>
            <a:pathLst>
              <a:path h="6726759" w="7242809">
                <a:moveTo>
                  <a:pt x="0" y="0"/>
                </a:moveTo>
                <a:lnTo>
                  <a:pt x="7242809" y="0"/>
                </a:lnTo>
                <a:lnTo>
                  <a:pt x="7242809" y="6726759"/>
                </a:lnTo>
                <a:lnTo>
                  <a:pt x="0" y="672675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413214" y="4001787"/>
            <a:ext cx="7625904" cy="1283235"/>
          </a:xfrm>
          <a:prstGeom prst="rect">
            <a:avLst/>
          </a:prstGeom>
        </p:spPr>
        <p:txBody>
          <a:bodyPr anchor="t" rtlCol="false" tIns="0" lIns="0" bIns="0" rIns="0">
            <a:spAutoFit/>
          </a:bodyPr>
          <a:lstStyle/>
          <a:p>
            <a:pPr algn="l">
              <a:lnSpc>
                <a:spcPts val="8916"/>
              </a:lnSpc>
            </a:pPr>
            <a:r>
              <a:rPr lang="en-US" sz="9288" b="true">
                <a:solidFill>
                  <a:srgbClr val="D27A2F"/>
                </a:solidFill>
                <a:latin typeface="Childos Arabic Bold"/>
                <a:ea typeface="Childos Arabic Bold"/>
                <a:cs typeface="Childos Arabic Bold"/>
                <a:sym typeface="Childos Arabic Bold"/>
              </a:rPr>
              <a:t>Reducción</a:t>
            </a:r>
          </a:p>
        </p:txBody>
      </p:sp>
      <p:sp>
        <p:nvSpPr>
          <p:cNvPr name="Freeform 4" id="4"/>
          <p:cNvSpPr/>
          <p:nvPr/>
        </p:nvSpPr>
        <p:spPr>
          <a:xfrm flipH="false" flipV="false" rot="1104527">
            <a:off x="-2340276" y="7849452"/>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9323303">
            <a:off x="12379187" y="-2842614"/>
            <a:ext cx="6737952" cy="6249450"/>
          </a:xfrm>
          <a:custGeom>
            <a:avLst/>
            <a:gdLst/>
            <a:ahLst/>
            <a:cxnLst/>
            <a:rect r="r" b="b" t="t" l="l"/>
            <a:pathLst>
              <a:path h="6249450" w="6737952">
                <a:moveTo>
                  <a:pt x="0" y="0"/>
                </a:moveTo>
                <a:lnTo>
                  <a:pt x="6737951" y="0"/>
                </a:lnTo>
                <a:lnTo>
                  <a:pt x="6737951"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8247948">
            <a:off x="15019356" y="6434607"/>
            <a:ext cx="2411733" cy="4909381"/>
          </a:xfrm>
          <a:custGeom>
            <a:avLst/>
            <a:gdLst/>
            <a:ahLst/>
            <a:cxnLst/>
            <a:rect r="r" b="b" t="t" l="l"/>
            <a:pathLst>
              <a:path h="4909381" w="2411733">
                <a:moveTo>
                  <a:pt x="0" y="0"/>
                </a:moveTo>
                <a:lnTo>
                  <a:pt x="2411733" y="0"/>
                </a:lnTo>
                <a:lnTo>
                  <a:pt x="2411733" y="4909381"/>
                </a:lnTo>
                <a:lnTo>
                  <a:pt x="0" y="49093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843637">
            <a:off x="742973" y="464366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2843637">
            <a:off x="12471122" y="7890043"/>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4129766">
            <a:off x="4876401" y="8488440"/>
            <a:ext cx="671296" cy="671296"/>
          </a:xfrm>
          <a:custGeom>
            <a:avLst/>
            <a:gdLst/>
            <a:ahLst/>
            <a:cxnLst/>
            <a:rect r="r" b="b" t="t" l="l"/>
            <a:pathLst>
              <a:path h="671296" w="671296">
                <a:moveTo>
                  <a:pt x="0" y="0"/>
                </a:moveTo>
                <a:lnTo>
                  <a:pt x="671295" y="0"/>
                </a:lnTo>
                <a:lnTo>
                  <a:pt x="671295" y="671295"/>
                </a:lnTo>
                <a:lnTo>
                  <a:pt x="0" y="671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129766">
            <a:off x="10856762" y="1761681"/>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4065417" y="6603348"/>
            <a:ext cx="1976094" cy="2492780"/>
          </a:xfrm>
          <a:custGeom>
            <a:avLst/>
            <a:gdLst/>
            <a:ahLst/>
            <a:cxnLst/>
            <a:rect r="r" b="b" t="t" l="l"/>
            <a:pathLst>
              <a:path h="2492780" w="1976094">
                <a:moveTo>
                  <a:pt x="0" y="0"/>
                </a:moveTo>
                <a:lnTo>
                  <a:pt x="1976095" y="0"/>
                </a:lnTo>
                <a:lnTo>
                  <a:pt x="1976095" y="2492779"/>
                </a:lnTo>
                <a:lnTo>
                  <a:pt x="0" y="249277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8964260" y="7673560"/>
            <a:ext cx="2662363" cy="3169479"/>
          </a:xfrm>
          <a:custGeom>
            <a:avLst/>
            <a:gdLst/>
            <a:ahLst/>
            <a:cxnLst/>
            <a:rect r="r" b="b" t="t" l="l"/>
            <a:pathLst>
              <a:path h="3169479" w="2662363">
                <a:moveTo>
                  <a:pt x="0" y="0"/>
                </a:moveTo>
                <a:lnTo>
                  <a:pt x="2662362" y="0"/>
                </a:lnTo>
                <a:lnTo>
                  <a:pt x="2662362" y="3169480"/>
                </a:lnTo>
                <a:lnTo>
                  <a:pt x="0" y="316948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2529198" y="4830527"/>
            <a:ext cx="5400679" cy="1533934"/>
          </a:xfrm>
          <a:prstGeom prst="rect">
            <a:avLst/>
          </a:prstGeom>
        </p:spPr>
        <p:txBody>
          <a:bodyPr anchor="t" rtlCol="false" tIns="0" lIns="0" bIns="0" rIns="0">
            <a:spAutoFit/>
          </a:bodyPr>
          <a:lstStyle/>
          <a:p>
            <a:pPr algn="just">
              <a:lnSpc>
                <a:spcPts val="2426"/>
              </a:lnSpc>
              <a:spcBef>
                <a:spcPct val="0"/>
              </a:spcBef>
            </a:pPr>
            <a:r>
              <a:rPr lang="en-US" sz="2021">
                <a:solidFill>
                  <a:srgbClr val="FFFAF7"/>
                </a:solidFill>
                <a:latin typeface="Comic Sans"/>
                <a:ea typeface="Comic Sans"/>
                <a:cs typeface="Comic Sans"/>
                <a:sym typeface="Comic Sans"/>
              </a:rPr>
              <a:t>Reducir en un 20% la compra de productos que el hogar ya mantiene disponibles en su despensa, al sexto mes de uso de cada hogar, respecto de la línea base establecida durante su primer mes de registro.</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8247948">
            <a:off x="15019356" y="6434607"/>
            <a:ext cx="2411733" cy="4909381"/>
          </a:xfrm>
          <a:custGeom>
            <a:avLst/>
            <a:gdLst/>
            <a:ahLst/>
            <a:cxnLst/>
            <a:rect r="r" b="b" t="t" l="l"/>
            <a:pathLst>
              <a:path h="4909381" w="2411733">
                <a:moveTo>
                  <a:pt x="0" y="0"/>
                </a:moveTo>
                <a:lnTo>
                  <a:pt x="2411733" y="0"/>
                </a:lnTo>
                <a:lnTo>
                  <a:pt x="2411733" y="4909381"/>
                </a:lnTo>
                <a:lnTo>
                  <a:pt x="0" y="49093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72004">
            <a:off x="4064525" y="8141652"/>
            <a:ext cx="6737952" cy="6249450"/>
          </a:xfrm>
          <a:custGeom>
            <a:avLst/>
            <a:gdLst/>
            <a:ahLst/>
            <a:cxnLst/>
            <a:rect r="r" b="b" t="t" l="l"/>
            <a:pathLst>
              <a:path h="6249450" w="6737952">
                <a:moveTo>
                  <a:pt x="0" y="0"/>
                </a:moveTo>
                <a:lnTo>
                  <a:pt x="6737951" y="0"/>
                </a:lnTo>
                <a:lnTo>
                  <a:pt x="6737951" y="6249451"/>
                </a:lnTo>
                <a:lnTo>
                  <a:pt x="0" y="624945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056968" y="1761457"/>
            <a:ext cx="7740064" cy="6446828"/>
          </a:xfrm>
          <a:custGeom>
            <a:avLst/>
            <a:gdLst/>
            <a:ahLst/>
            <a:cxnLst/>
            <a:rect r="r" b="b" t="t" l="l"/>
            <a:pathLst>
              <a:path h="6446828" w="7740064">
                <a:moveTo>
                  <a:pt x="0" y="0"/>
                </a:moveTo>
                <a:lnTo>
                  <a:pt x="7740064" y="0"/>
                </a:lnTo>
                <a:lnTo>
                  <a:pt x="7740064" y="6446828"/>
                </a:lnTo>
                <a:lnTo>
                  <a:pt x="0" y="644682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923202" y="8208285"/>
            <a:ext cx="2231609" cy="2656678"/>
          </a:xfrm>
          <a:custGeom>
            <a:avLst/>
            <a:gdLst/>
            <a:ahLst/>
            <a:cxnLst/>
            <a:rect r="r" b="b" t="t" l="l"/>
            <a:pathLst>
              <a:path h="2656678" w="2231609">
                <a:moveTo>
                  <a:pt x="0" y="0"/>
                </a:moveTo>
                <a:lnTo>
                  <a:pt x="2231609" y="0"/>
                </a:lnTo>
                <a:lnTo>
                  <a:pt x="2231609" y="2656677"/>
                </a:lnTo>
                <a:lnTo>
                  <a:pt x="0" y="26566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323303">
            <a:off x="14268751" y="-2550413"/>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2843637">
            <a:off x="1235120" y="4313353"/>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2843637">
            <a:off x="16431643" y="572585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4129766">
            <a:off x="5214950" y="7872637"/>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4129766">
            <a:off x="12025565" y="693052"/>
            <a:ext cx="671296" cy="671296"/>
          </a:xfrm>
          <a:custGeom>
            <a:avLst/>
            <a:gdLst/>
            <a:ahLst/>
            <a:cxnLst/>
            <a:rect r="r" b="b" t="t" l="l"/>
            <a:pathLst>
              <a:path h="671296" w="671296">
                <a:moveTo>
                  <a:pt x="0" y="0"/>
                </a:moveTo>
                <a:lnTo>
                  <a:pt x="671295" y="0"/>
                </a:lnTo>
                <a:lnTo>
                  <a:pt x="671295" y="671296"/>
                </a:lnTo>
                <a:lnTo>
                  <a:pt x="0" y="6712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2287380">
            <a:off x="5489319" y="-309530"/>
            <a:ext cx="3014261" cy="3116247"/>
          </a:xfrm>
          <a:custGeom>
            <a:avLst/>
            <a:gdLst/>
            <a:ahLst/>
            <a:cxnLst/>
            <a:rect r="r" b="b" t="t" l="l"/>
            <a:pathLst>
              <a:path h="3116247" w="3014261">
                <a:moveTo>
                  <a:pt x="0" y="0"/>
                </a:moveTo>
                <a:lnTo>
                  <a:pt x="3014261" y="0"/>
                </a:lnTo>
                <a:lnTo>
                  <a:pt x="3014261" y="3116247"/>
                </a:lnTo>
                <a:lnTo>
                  <a:pt x="0" y="3116247"/>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3" id="13"/>
          <p:cNvSpPr/>
          <p:nvPr/>
        </p:nvSpPr>
        <p:spPr>
          <a:xfrm flipH="false" flipV="false" rot="0">
            <a:off x="-204967" y="6443954"/>
            <a:ext cx="3797352" cy="3896536"/>
          </a:xfrm>
          <a:custGeom>
            <a:avLst/>
            <a:gdLst/>
            <a:ahLst/>
            <a:cxnLst/>
            <a:rect r="r" b="b" t="t" l="l"/>
            <a:pathLst>
              <a:path h="3896536" w="3797352">
                <a:moveTo>
                  <a:pt x="0" y="0"/>
                </a:moveTo>
                <a:lnTo>
                  <a:pt x="3797352" y="0"/>
                </a:lnTo>
                <a:lnTo>
                  <a:pt x="3797352" y="3896536"/>
                </a:lnTo>
                <a:lnTo>
                  <a:pt x="0" y="3896536"/>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4" id="14"/>
          <p:cNvSpPr txBox="true"/>
          <p:nvPr/>
        </p:nvSpPr>
        <p:spPr>
          <a:xfrm rot="0">
            <a:off x="8725468" y="3763807"/>
            <a:ext cx="6403065" cy="2145496"/>
          </a:xfrm>
          <a:prstGeom prst="rect">
            <a:avLst/>
          </a:prstGeom>
        </p:spPr>
        <p:txBody>
          <a:bodyPr anchor="t" rtlCol="false" tIns="0" lIns="0" bIns="0" rIns="0">
            <a:spAutoFit/>
          </a:bodyPr>
          <a:lstStyle/>
          <a:p>
            <a:pPr algn="ctr">
              <a:lnSpc>
                <a:spcPts val="2805"/>
              </a:lnSpc>
            </a:pPr>
            <a:r>
              <a:rPr lang="en-US" sz="2337">
                <a:solidFill>
                  <a:srgbClr val="FFFAF7"/>
                </a:solidFill>
                <a:latin typeface="Comic Sans"/>
                <a:ea typeface="Comic Sans"/>
                <a:cs typeface="Comic Sans"/>
                <a:sym typeface="Comic Sans"/>
              </a:rPr>
              <a:t>Incrementar en un 30% la proporción de compras del hogar realizadas a</a:t>
            </a:r>
          </a:p>
          <a:p>
            <a:pPr algn="ctr">
              <a:lnSpc>
                <a:spcPts val="2805"/>
              </a:lnSpc>
            </a:pPr>
            <a:r>
              <a:rPr lang="en-US" sz="2337">
                <a:solidFill>
                  <a:srgbClr val="FFFAF7"/>
                </a:solidFill>
                <a:latin typeface="Comic Sans"/>
                <a:ea typeface="Comic Sans"/>
                <a:cs typeface="Comic Sans"/>
                <a:sym typeface="Comic Sans"/>
              </a:rPr>
              <a:t>partir de una lista de compras planificada en la aplicación, al</a:t>
            </a:r>
            <a:r>
              <a:rPr lang="en-US" sz="2337">
                <a:solidFill>
                  <a:srgbClr val="FFFAF7"/>
                </a:solidFill>
                <a:latin typeface="Comic Sans"/>
                <a:ea typeface="Comic Sans"/>
                <a:cs typeface="Comic Sans"/>
                <a:sym typeface="Comic Sans"/>
              </a:rPr>
              <a:t> sexto mes de uso de cada hogar, respecto de la línea base establecida</a:t>
            </a:r>
          </a:p>
          <a:p>
            <a:pPr algn="ctr">
              <a:lnSpc>
                <a:spcPts val="2805"/>
              </a:lnSpc>
              <a:spcBef>
                <a:spcPct val="0"/>
              </a:spcBef>
            </a:pPr>
            <a:r>
              <a:rPr lang="en-US" sz="2337">
                <a:solidFill>
                  <a:srgbClr val="FFFAF7"/>
                </a:solidFill>
                <a:latin typeface="Comic Sans"/>
                <a:ea typeface="Comic Sans"/>
                <a:cs typeface="Comic Sans"/>
                <a:sym typeface="Comic Sans"/>
              </a:rPr>
              <a:t>durante su primer mes de registro.</a:t>
            </a:r>
          </a:p>
        </p:txBody>
      </p:sp>
      <p:sp>
        <p:nvSpPr>
          <p:cNvPr name="TextBox 15" id="15"/>
          <p:cNvSpPr txBox="true"/>
          <p:nvPr/>
        </p:nvSpPr>
        <p:spPr>
          <a:xfrm rot="0">
            <a:off x="2664055" y="3850792"/>
            <a:ext cx="5106308" cy="1011164"/>
          </a:xfrm>
          <a:prstGeom prst="rect">
            <a:avLst/>
          </a:prstGeom>
        </p:spPr>
        <p:txBody>
          <a:bodyPr anchor="t" rtlCol="false" tIns="0" lIns="0" bIns="0" rIns="0">
            <a:spAutoFit/>
          </a:bodyPr>
          <a:lstStyle/>
          <a:p>
            <a:pPr algn="l">
              <a:lnSpc>
                <a:spcPts val="6925"/>
              </a:lnSpc>
            </a:pPr>
            <a:r>
              <a:rPr lang="en-US" sz="7213" b="true">
                <a:solidFill>
                  <a:srgbClr val="D27A2F"/>
                </a:solidFill>
                <a:latin typeface="Childos Arabic Bold"/>
                <a:ea typeface="Childos Arabic Bold"/>
                <a:cs typeface="Childos Arabic Bold"/>
                <a:sym typeface="Childos Arabic Bold"/>
              </a:rPr>
              <a:t>Planificación</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8247948">
            <a:off x="15439643" y="7101251"/>
            <a:ext cx="2411733" cy="4909381"/>
          </a:xfrm>
          <a:custGeom>
            <a:avLst/>
            <a:gdLst/>
            <a:ahLst/>
            <a:cxnLst/>
            <a:rect r="r" b="b" t="t" l="l"/>
            <a:pathLst>
              <a:path h="4909381" w="2411733">
                <a:moveTo>
                  <a:pt x="0" y="0"/>
                </a:moveTo>
                <a:lnTo>
                  <a:pt x="2411733" y="0"/>
                </a:lnTo>
                <a:lnTo>
                  <a:pt x="2411733" y="4909381"/>
                </a:lnTo>
                <a:lnTo>
                  <a:pt x="0" y="49093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72004">
            <a:off x="4781996" y="9278042"/>
            <a:ext cx="5718378" cy="5303796"/>
          </a:xfrm>
          <a:custGeom>
            <a:avLst/>
            <a:gdLst/>
            <a:ahLst/>
            <a:cxnLst/>
            <a:rect r="r" b="b" t="t" l="l"/>
            <a:pathLst>
              <a:path h="5303796" w="5718378">
                <a:moveTo>
                  <a:pt x="0" y="0"/>
                </a:moveTo>
                <a:lnTo>
                  <a:pt x="5718379" y="0"/>
                </a:lnTo>
                <a:lnTo>
                  <a:pt x="5718379" y="5303796"/>
                </a:lnTo>
                <a:lnTo>
                  <a:pt x="0" y="53037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093961" y="119920"/>
            <a:ext cx="11386580" cy="9484072"/>
          </a:xfrm>
          <a:custGeom>
            <a:avLst/>
            <a:gdLst/>
            <a:ahLst/>
            <a:cxnLst/>
            <a:rect r="r" b="b" t="t" l="l"/>
            <a:pathLst>
              <a:path h="9484072" w="11386580">
                <a:moveTo>
                  <a:pt x="0" y="0"/>
                </a:moveTo>
                <a:lnTo>
                  <a:pt x="11386580" y="0"/>
                </a:lnTo>
                <a:lnTo>
                  <a:pt x="11386580" y="9484072"/>
                </a:lnTo>
                <a:lnTo>
                  <a:pt x="0" y="9484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923202" y="8208285"/>
            <a:ext cx="2231609" cy="2656678"/>
          </a:xfrm>
          <a:custGeom>
            <a:avLst/>
            <a:gdLst/>
            <a:ahLst/>
            <a:cxnLst/>
            <a:rect r="r" b="b" t="t" l="l"/>
            <a:pathLst>
              <a:path h="2656678" w="2231609">
                <a:moveTo>
                  <a:pt x="0" y="0"/>
                </a:moveTo>
                <a:lnTo>
                  <a:pt x="2231609" y="0"/>
                </a:lnTo>
                <a:lnTo>
                  <a:pt x="2231609" y="2656677"/>
                </a:lnTo>
                <a:lnTo>
                  <a:pt x="0" y="26566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323303">
            <a:off x="15745670" y="-2228236"/>
            <a:ext cx="5451114" cy="5055908"/>
          </a:xfrm>
          <a:custGeom>
            <a:avLst/>
            <a:gdLst/>
            <a:ahLst/>
            <a:cxnLst/>
            <a:rect r="r" b="b" t="t" l="l"/>
            <a:pathLst>
              <a:path h="5055908" w="5451114">
                <a:moveTo>
                  <a:pt x="0" y="0"/>
                </a:moveTo>
                <a:lnTo>
                  <a:pt x="5451114" y="0"/>
                </a:lnTo>
                <a:lnTo>
                  <a:pt x="5451114" y="5055908"/>
                </a:lnTo>
                <a:lnTo>
                  <a:pt x="0" y="50559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2843637">
            <a:off x="1235120" y="4313353"/>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2843637">
            <a:off x="17071005" y="464366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4129766">
            <a:off x="5214950" y="7872637"/>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4129766">
            <a:off x="12025565" y="693052"/>
            <a:ext cx="671296" cy="671296"/>
          </a:xfrm>
          <a:custGeom>
            <a:avLst/>
            <a:gdLst/>
            <a:ahLst/>
            <a:cxnLst/>
            <a:rect r="r" b="b" t="t" l="l"/>
            <a:pathLst>
              <a:path h="671296" w="671296">
                <a:moveTo>
                  <a:pt x="0" y="0"/>
                </a:moveTo>
                <a:lnTo>
                  <a:pt x="671295" y="0"/>
                </a:lnTo>
                <a:lnTo>
                  <a:pt x="671295" y="671296"/>
                </a:lnTo>
                <a:lnTo>
                  <a:pt x="0" y="67129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0">
            <a:off x="-204967" y="6443954"/>
            <a:ext cx="3797352" cy="3896536"/>
          </a:xfrm>
          <a:custGeom>
            <a:avLst/>
            <a:gdLst/>
            <a:ahLst/>
            <a:cxnLst/>
            <a:rect r="r" b="b" t="t" l="l"/>
            <a:pathLst>
              <a:path h="3896536" w="3797352">
                <a:moveTo>
                  <a:pt x="0" y="0"/>
                </a:moveTo>
                <a:lnTo>
                  <a:pt x="3797352" y="0"/>
                </a:lnTo>
                <a:lnTo>
                  <a:pt x="3797352" y="3896536"/>
                </a:lnTo>
                <a:lnTo>
                  <a:pt x="0" y="389653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3" id="13"/>
          <p:cNvSpPr txBox="true"/>
          <p:nvPr/>
        </p:nvSpPr>
        <p:spPr>
          <a:xfrm rot="0">
            <a:off x="7202413" y="2656213"/>
            <a:ext cx="3561123" cy="2145496"/>
          </a:xfrm>
          <a:prstGeom prst="rect">
            <a:avLst/>
          </a:prstGeom>
        </p:spPr>
        <p:txBody>
          <a:bodyPr anchor="t" rtlCol="false" tIns="0" lIns="0" bIns="0" rIns="0">
            <a:spAutoFit/>
          </a:bodyPr>
          <a:lstStyle/>
          <a:p>
            <a:pPr algn="ctr">
              <a:lnSpc>
                <a:spcPts val="2805"/>
              </a:lnSpc>
            </a:pPr>
            <a:r>
              <a:rPr lang="en-US" sz="2337">
                <a:solidFill>
                  <a:srgbClr val="FFFAF7"/>
                </a:solidFill>
                <a:latin typeface="Comic Sans"/>
                <a:ea typeface="Comic Sans"/>
                <a:cs typeface="Comic Sans"/>
                <a:sym typeface="Comic Sans"/>
              </a:rPr>
              <a:t>GESTIONAR</a:t>
            </a:r>
          </a:p>
          <a:p>
            <a:pPr algn="ctr">
              <a:lnSpc>
                <a:spcPts val="2805"/>
              </a:lnSpc>
            </a:pPr>
            <a:r>
              <a:rPr lang="en-US" sz="2337">
                <a:solidFill>
                  <a:srgbClr val="FFFAF7"/>
                </a:solidFill>
                <a:latin typeface="Comic Sans"/>
                <a:ea typeface="Comic Sans"/>
                <a:cs typeface="Comic Sans"/>
                <a:sym typeface="Comic Sans"/>
              </a:rPr>
              <a:t> Alimentos · cantidades · ubicación</a:t>
            </a:r>
          </a:p>
          <a:p>
            <a:pPr algn="ctr">
              <a:lnSpc>
                <a:spcPts val="2805"/>
              </a:lnSpc>
            </a:pPr>
          </a:p>
          <a:p>
            <a:pPr algn="ctr">
              <a:lnSpc>
                <a:spcPts val="2805"/>
              </a:lnSpc>
            </a:pPr>
          </a:p>
          <a:p>
            <a:pPr algn="ctr">
              <a:lnSpc>
                <a:spcPts val="2805"/>
              </a:lnSpc>
              <a:spcBef>
                <a:spcPct val="0"/>
              </a:spcBef>
            </a:pPr>
          </a:p>
        </p:txBody>
      </p:sp>
      <p:sp>
        <p:nvSpPr>
          <p:cNvPr name="TextBox 14" id="14"/>
          <p:cNvSpPr txBox="true"/>
          <p:nvPr/>
        </p:nvSpPr>
        <p:spPr>
          <a:xfrm rot="0">
            <a:off x="2664055" y="3850792"/>
            <a:ext cx="5106308" cy="1011164"/>
          </a:xfrm>
          <a:prstGeom prst="rect">
            <a:avLst/>
          </a:prstGeom>
        </p:spPr>
        <p:txBody>
          <a:bodyPr anchor="t" rtlCol="false" tIns="0" lIns="0" bIns="0" rIns="0">
            <a:spAutoFit/>
          </a:bodyPr>
          <a:lstStyle/>
          <a:p>
            <a:pPr algn="l">
              <a:lnSpc>
                <a:spcPts val="6925"/>
              </a:lnSpc>
            </a:pPr>
            <a:r>
              <a:rPr lang="en-US" sz="7213" b="true">
                <a:solidFill>
                  <a:srgbClr val="D27A2F"/>
                </a:solidFill>
                <a:latin typeface="Childos Arabic Bold"/>
                <a:ea typeface="Childos Arabic Bold"/>
                <a:cs typeface="Childos Arabic Bold"/>
                <a:sym typeface="Childos Arabic Bold"/>
              </a:rPr>
              <a:t>Alcance</a:t>
            </a:r>
          </a:p>
        </p:txBody>
      </p:sp>
      <p:sp>
        <p:nvSpPr>
          <p:cNvPr name="TextBox 15" id="15"/>
          <p:cNvSpPr txBox="true"/>
          <p:nvPr/>
        </p:nvSpPr>
        <p:spPr>
          <a:xfrm rot="0">
            <a:off x="12361213" y="2665738"/>
            <a:ext cx="4197388" cy="1333500"/>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PREVENIR</a:t>
            </a:r>
          </a:p>
          <a:p>
            <a:pPr algn="ctr">
              <a:lnSpc>
                <a:spcPts val="2627"/>
              </a:lnSpc>
              <a:spcBef>
                <a:spcPct val="0"/>
              </a:spcBef>
            </a:pPr>
            <a:r>
              <a:rPr lang="en-US" sz="2189">
                <a:solidFill>
                  <a:srgbClr val="FFFAF7"/>
                </a:solidFill>
                <a:latin typeface="Comic Sans"/>
                <a:ea typeface="Comic Sans"/>
                <a:cs typeface="Comic Sans"/>
                <a:sym typeface="Comic Sans"/>
              </a:rPr>
              <a:t> Desperdicio</a:t>
            </a:r>
            <a:r>
              <a:rPr lang="en-US" sz="2189">
                <a:solidFill>
                  <a:srgbClr val="FFFAF7"/>
                </a:solidFill>
                <a:latin typeface="Comic Sans"/>
                <a:ea typeface="Comic Sans"/>
                <a:cs typeface="Comic Sans"/>
                <a:sym typeface="Comic Sans"/>
              </a:rPr>
              <a:t> · alertas · seguimiento</a:t>
            </a:r>
          </a:p>
          <a:p>
            <a:pPr algn="ctr">
              <a:lnSpc>
                <a:spcPts val="2627"/>
              </a:lnSpc>
              <a:spcBef>
                <a:spcPct val="0"/>
              </a:spcBef>
            </a:pPr>
          </a:p>
        </p:txBody>
      </p:sp>
      <p:sp>
        <p:nvSpPr>
          <p:cNvPr name="TextBox 16" id="16"/>
          <p:cNvSpPr txBox="true"/>
          <p:nvPr/>
        </p:nvSpPr>
        <p:spPr>
          <a:xfrm rot="0">
            <a:off x="7045306" y="4106933"/>
            <a:ext cx="4197388" cy="1333500"/>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APROVECHAR</a:t>
            </a:r>
          </a:p>
          <a:p>
            <a:pPr algn="ctr">
              <a:lnSpc>
                <a:spcPts val="2627"/>
              </a:lnSpc>
              <a:spcBef>
                <a:spcPct val="0"/>
              </a:spcBef>
            </a:pPr>
            <a:r>
              <a:rPr lang="en-US" sz="2189">
                <a:solidFill>
                  <a:srgbClr val="FFFAF7"/>
                </a:solidFill>
                <a:latin typeface="Comic Sans"/>
                <a:ea typeface="Comic Sans"/>
                <a:cs typeface="Comic Sans"/>
                <a:sym typeface="Comic Sans"/>
              </a:rPr>
              <a:t> Rec</a:t>
            </a:r>
            <a:r>
              <a:rPr lang="en-US" sz="2189">
                <a:solidFill>
                  <a:srgbClr val="FFFAF7"/>
                </a:solidFill>
                <a:latin typeface="Comic Sans"/>
                <a:ea typeface="Comic Sans"/>
                <a:cs typeface="Comic Sans"/>
                <a:sym typeface="Comic Sans"/>
              </a:rPr>
              <a:t>etas · consumo · alimentos próximos a caducar</a:t>
            </a:r>
          </a:p>
          <a:p>
            <a:pPr algn="ctr">
              <a:lnSpc>
                <a:spcPts val="2627"/>
              </a:lnSpc>
              <a:spcBef>
                <a:spcPct val="0"/>
              </a:spcBef>
            </a:pPr>
          </a:p>
        </p:txBody>
      </p:sp>
      <p:sp>
        <p:nvSpPr>
          <p:cNvPr name="TextBox 17" id="17"/>
          <p:cNvSpPr txBox="true"/>
          <p:nvPr/>
        </p:nvSpPr>
        <p:spPr>
          <a:xfrm rot="0">
            <a:off x="12361213" y="4185937"/>
            <a:ext cx="4197388" cy="1333500"/>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PLANIFICAR</a:t>
            </a:r>
          </a:p>
          <a:p>
            <a:pPr algn="ctr">
              <a:lnSpc>
                <a:spcPts val="2627"/>
              </a:lnSpc>
              <a:spcBef>
                <a:spcPct val="0"/>
              </a:spcBef>
            </a:pPr>
            <a:r>
              <a:rPr lang="en-US" sz="2189">
                <a:solidFill>
                  <a:srgbClr val="FFFAF7"/>
                </a:solidFill>
                <a:latin typeface="Comic Sans"/>
                <a:ea typeface="Comic Sans"/>
                <a:cs typeface="Comic Sans"/>
                <a:sym typeface="Comic Sans"/>
              </a:rPr>
              <a:t> Compr</a:t>
            </a:r>
            <a:r>
              <a:rPr lang="en-US" sz="2189">
                <a:solidFill>
                  <a:srgbClr val="FFFAF7"/>
                </a:solidFill>
                <a:latin typeface="Comic Sans"/>
                <a:ea typeface="Comic Sans"/>
                <a:cs typeface="Comic Sans"/>
                <a:sym typeface="Comic Sans"/>
              </a:rPr>
              <a:t>as · cantidades · historial de desperdicio</a:t>
            </a:r>
          </a:p>
          <a:p>
            <a:pPr algn="ctr">
              <a:lnSpc>
                <a:spcPts val="2627"/>
              </a:lnSpc>
              <a:spcBef>
                <a:spcPct val="0"/>
              </a:spcBef>
            </a:pPr>
          </a:p>
        </p:txBody>
      </p:sp>
      <p:sp>
        <p:nvSpPr>
          <p:cNvPr name="TextBox 18" id="18"/>
          <p:cNvSpPr txBox="true"/>
          <p:nvPr/>
        </p:nvSpPr>
        <p:spPr>
          <a:xfrm rot="0">
            <a:off x="12448122" y="5519437"/>
            <a:ext cx="4197388" cy="1333500"/>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MEJORAR</a:t>
            </a:r>
          </a:p>
          <a:p>
            <a:pPr algn="ctr">
              <a:lnSpc>
                <a:spcPts val="2627"/>
              </a:lnSpc>
              <a:spcBef>
                <a:spcPct val="0"/>
              </a:spcBef>
            </a:pPr>
            <a:r>
              <a:rPr lang="en-US" sz="2189">
                <a:solidFill>
                  <a:srgbClr val="FFFAF7"/>
                </a:solidFill>
                <a:latin typeface="Comic Sans"/>
                <a:ea typeface="Comic Sans"/>
                <a:cs typeface="Comic Sans"/>
                <a:sym typeface="Comic Sans"/>
              </a:rPr>
              <a:t> Hábi</a:t>
            </a:r>
            <a:r>
              <a:rPr lang="en-US" sz="2189">
                <a:solidFill>
                  <a:srgbClr val="FFFAF7"/>
                </a:solidFill>
                <a:latin typeface="Comic Sans"/>
                <a:ea typeface="Comic Sans"/>
                <a:cs typeface="Comic Sans"/>
                <a:sym typeface="Comic Sans"/>
              </a:rPr>
              <a:t>tos · ahorro · estadísticas · logros</a:t>
            </a:r>
          </a:p>
          <a:p>
            <a:pPr algn="ctr">
              <a:lnSpc>
                <a:spcPts val="2627"/>
              </a:lnSpc>
              <a:spcBef>
                <a:spcPct val="0"/>
              </a:spcBef>
            </a:pPr>
          </a:p>
        </p:txBody>
      </p:sp>
      <p:sp>
        <p:nvSpPr>
          <p:cNvPr name="TextBox 19" id="19"/>
          <p:cNvSpPr txBox="true"/>
          <p:nvPr/>
        </p:nvSpPr>
        <p:spPr>
          <a:xfrm rot="0">
            <a:off x="7045306" y="5725627"/>
            <a:ext cx="4197388" cy="1000125"/>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 </a:t>
            </a:r>
            <a:r>
              <a:rPr lang="en-US" sz="2189">
                <a:solidFill>
                  <a:srgbClr val="FFFAF7"/>
                </a:solidFill>
                <a:latin typeface="Comic Sans"/>
                <a:ea typeface="Comic Sans"/>
                <a:cs typeface="Comic Sans"/>
                <a:sym typeface="Comic Sans"/>
              </a:rPr>
              <a:t>C</a:t>
            </a:r>
            <a:r>
              <a:rPr lang="en-US" sz="2189">
                <a:solidFill>
                  <a:srgbClr val="FFFAF7"/>
                </a:solidFill>
                <a:latin typeface="Comic Sans"/>
                <a:ea typeface="Comic Sans"/>
                <a:cs typeface="Comic Sans"/>
                <a:sym typeface="Comic Sans"/>
              </a:rPr>
              <a:t>OMPARTIR</a:t>
            </a:r>
          </a:p>
          <a:p>
            <a:pPr algn="ctr">
              <a:lnSpc>
                <a:spcPts val="2627"/>
              </a:lnSpc>
              <a:spcBef>
                <a:spcPct val="0"/>
              </a:spcBef>
            </a:pPr>
            <a:r>
              <a:rPr lang="en-US" sz="2189">
                <a:solidFill>
                  <a:srgbClr val="FFFAF7"/>
                </a:solidFill>
                <a:latin typeface="Comic Sans"/>
                <a:ea typeface="Comic Sans"/>
                <a:cs typeface="Comic Sans"/>
                <a:sym typeface="Comic Sans"/>
              </a:rPr>
              <a:t> Inven</a:t>
            </a:r>
            <a:r>
              <a:rPr lang="en-US" sz="2189">
                <a:solidFill>
                  <a:srgbClr val="FFFAF7"/>
                </a:solidFill>
                <a:latin typeface="Comic Sans"/>
                <a:ea typeface="Comic Sans"/>
                <a:cs typeface="Comic Sans"/>
                <a:sym typeface="Comic Sans"/>
              </a:rPr>
              <a:t>tario familiar · donación</a:t>
            </a:r>
          </a:p>
          <a:p>
            <a:pPr algn="ctr">
              <a:lnSpc>
                <a:spcPts val="2627"/>
              </a:lnSpc>
              <a:spcBef>
                <a:spcPct val="0"/>
              </a:spcBef>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8247948">
            <a:off x="15439643" y="7101251"/>
            <a:ext cx="2411733" cy="4909381"/>
          </a:xfrm>
          <a:custGeom>
            <a:avLst/>
            <a:gdLst/>
            <a:ahLst/>
            <a:cxnLst/>
            <a:rect r="r" b="b" t="t" l="l"/>
            <a:pathLst>
              <a:path h="4909381" w="2411733">
                <a:moveTo>
                  <a:pt x="0" y="0"/>
                </a:moveTo>
                <a:lnTo>
                  <a:pt x="2411733" y="0"/>
                </a:lnTo>
                <a:lnTo>
                  <a:pt x="2411733" y="4909381"/>
                </a:lnTo>
                <a:lnTo>
                  <a:pt x="0" y="490938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3872004">
            <a:off x="4781996" y="9278042"/>
            <a:ext cx="5718378" cy="5303796"/>
          </a:xfrm>
          <a:custGeom>
            <a:avLst/>
            <a:gdLst/>
            <a:ahLst/>
            <a:cxnLst/>
            <a:rect r="r" b="b" t="t" l="l"/>
            <a:pathLst>
              <a:path h="5303796" w="5718378">
                <a:moveTo>
                  <a:pt x="0" y="0"/>
                </a:moveTo>
                <a:lnTo>
                  <a:pt x="5718379" y="0"/>
                </a:lnTo>
                <a:lnTo>
                  <a:pt x="5718379" y="5303796"/>
                </a:lnTo>
                <a:lnTo>
                  <a:pt x="0" y="530379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6233710" y="299718"/>
            <a:ext cx="11386580" cy="9484072"/>
          </a:xfrm>
          <a:custGeom>
            <a:avLst/>
            <a:gdLst/>
            <a:ahLst/>
            <a:cxnLst/>
            <a:rect r="r" b="b" t="t" l="l"/>
            <a:pathLst>
              <a:path h="9484072" w="11386580">
                <a:moveTo>
                  <a:pt x="0" y="0"/>
                </a:moveTo>
                <a:lnTo>
                  <a:pt x="11386580" y="0"/>
                </a:lnTo>
                <a:lnTo>
                  <a:pt x="11386580" y="9484072"/>
                </a:lnTo>
                <a:lnTo>
                  <a:pt x="0" y="948407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a:ln cap="sq">
            <a:noFill/>
            <a:prstDash val="solid"/>
            <a:miter/>
          </a:ln>
        </p:spPr>
      </p:sp>
      <p:sp>
        <p:nvSpPr>
          <p:cNvPr name="Freeform 5" id="5"/>
          <p:cNvSpPr/>
          <p:nvPr/>
        </p:nvSpPr>
        <p:spPr>
          <a:xfrm flipH="false" flipV="false" rot="0">
            <a:off x="9923202" y="8208285"/>
            <a:ext cx="2231609" cy="2656678"/>
          </a:xfrm>
          <a:custGeom>
            <a:avLst/>
            <a:gdLst/>
            <a:ahLst/>
            <a:cxnLst/>
            <a:rect r="r" b="b" t="t" l="l"/>
            <a:pathLst>
              <a:path h="2656678" w="2231609">
                <a:moveTo>
                  <a:pt x="0" y="0"/>
                </a:moveTo>
                <a:lnTo>
                  <a:pt x="2231609" y="0"/>
                </a:lnTo>
                <a:lnTo>
                  <a:pt x="2231609" y="2656677"/>
                </a:lnTo>
                <a:lnTo>
                  <a:pt x="0" y="265667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6" id="6"/>
          <p:cNvSpPr/>
          <p:nvPr/>
        </p:nvSpPr>
        <p:spPr>
          <a:xfrm flipH="false" flipV="false" rot="-9323303">
            <a:off x="15745670" y="-2228236"/>
            <a:ext cx="5451114" cy="5055908"/>
          </a:xfrm>
          <a:custGeom>
            <a:avLst/>
            <a:gdLst/>
            <a:ahLst/>
            <a:cxnLst/>
            <a:rect r="r" b="b" t="t" l="l"/>
            <a:pathLst>
              <a:path h="5055908" w="5451114">
                <a:moveTo>
                  <a:pt x="0" y="0"/>
                </a:moveTo>
                <a:lnTo>
                  <a:pt x="5451114" y="0"/>
                </a:lnTo>
                <a:lnTo>
                  <a:pt x="5451114" y="5055908"/>
                </a:lnTo>
                <a:lnTo>
                  <a:pt x="0" y="505590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4129766">
            <a:off x="5214950" y="7872637"/>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9" id="9"/>
          <p:cNvSpPr/>
          <p:nvPr/>
        </p:nvSpPr>
        <p:spPr>
          <a:xfrm flipH="false" flipV="false" rot="-4129766">
            <a:off x="12025565" y="693052"/>
            <a:ext cx="671296" cy="671296"/>
          </a:xfrm>
          <a:custGeom>
            <a:avLst/>
            <a:gdLst/>
            <a:ahLst/>
            <a:cxnLst/>
            <a:rect r="r" b="b" t="t" l="l"/>
            <a:pathLst>
              <a:path h="671296" w="671296">
                <a:moveTo>
                  <a:pt x="0" y="0"/>
                </a:moveTo>
                <a:lnTo>
                  <a:pt x="671295" y="0"/>
                </a:lnTo>
                <a:lnTo>
                  <a:pt x="671295" y="671296"/>
                </a:lnTo>
                <a:lnTo>
                  <a:pt x="0" y="6712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204967" y="6443954"/>
            <a:ext cx="3797352" cy="3896536"/>
          </a:xfrm>
          <a:custGeom>
            <a:avLst/>
            <a:gdLst/>
            <a:ahLst/>
            <a:cxnLst/>
            <a:rect r="r" b="b" t="t" l="l"/>
            <a:pathLst>
              <a:path h="3896536" w="3797352">
                <a:moveTo>
                  <a:pt x="0" y="0"/>
                </a:moveTo>
                <a:lnTo>
                  <a:pt x="3797352" y="0"/>
                </a:lnTo>
                <a:lnTo>
                  <a:pt x="3797352" y="3896536"/>
                </a:lnTo>
                <a:lnTo>
                  <a:pt x="0" y="3896536"/>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7202413" y="2656213"/>
            <a:ext cx="3561123" cy="1077511"/>
          </a:xfrm>
          <a:prstGeom prst="rect">
            <a:avLst/>
          </a:prstGeom>
        </p:spPr>
        <p:txBody>
          <a:bodyPr anchor="t" rtlCol="false" tIns="0" lIns="0" bIns="0" rIns="0">
            <a:spAutoFit/>
          </a:bodyPr>
          <a:lstStyle/>
          <a:p>
            <a:pPr algn="ctr">
              <a:lnSpc>
                <a:spcPts val="2805"/>
              </a:lnSpc>
            </a:pPr>
            <a:r>
              <a:rPr lang="en-US" sz="2337">
                <a:solidFill>
                  <a:srgbClr val="FFFAF7"/>
                </a:solidFill>
                <a:latin typeface="Comic Sans"/>
                <a:ea typeface="Comic Sans"/>
                <a:cs typeface="Comic Sans"/>
                <a:sym typeface="Comic Sans"/>
              </a:rPr>
              <a:t>TIEMPO</a:t>
            </a:r>
          </a:p>
          <a:p>
            <a:pPr algn="ctr">
              <a:lnSpc>
                <a:spcPts val="2805"/>
              </a:lnSpc>
              <a:spcBef>
                <a:spcPct val="0"/>
              </a:spcBef>
            </a:pPr>
            <a:r>
              <a:rPr lang="en-US" sz="2337">
                <a:solidFill>
                  <a:srgbClr val="FFFAF7"/>
                </a:solidFill>
                <a:latin typeface="Comic Sans"/>
                <a:ea typeface="Comic Sans"/>
                <a:cs typeface="Comic Sans"/>
                <a:sym typeface="Comic Sans"/>
              </a:rPr>
              <a:t> Desarrollo dentro del período académico</a:t>
            </a:r>
          </a:p>
        </p:txBody>
      </p:sp>
      <p:sp>
        <p:nvSpPr>
          <p:cNvPr name="TextBox 12" id="12"/>
          <p:cNvSpPr txBox="true"/>
          <p:nvPr/>
        </p:nvSpPr>
        <p:spPr>
          <a:xfrm rot="0">
            <a:off x="476107" y="4310963"/>
            <a:ext cx="5508704" cy="1011164"/>
          </a:xfrm>
          <a:prstGeom prst="rect">
            <a:avLst/>
          </a:prstGeom>
        </p:spPr>
        <p:txBody>
          <a:bodyPr anchor="t" rtlCol="false" tIns="0" lIns="0" bIns="0" rIns="0">
            <a:spAutoFit/>
          </a:bodyPr>
          <a:lstStyle/>
          <a:p>
            <a:pPr algn="l">
              <a:lnSpc>
                <a:spcPts val="6925"/>
              </a:lnSpc>
            </a:pPr>
            <a:r>
              <a:rPr lang="en-US" sz="7213" b="true">
                <a:solidFill>
                  <a:srgbClr val="D27A2F"/>
                </a:solidFill>
                <a:latin typeface="Childos Arabic Bold"/>
                <a:ea typeface="Childos Arabic Bold"/>
                <a:cs typeface="Childos Arabic Bold"/>
                <a:sym typeface="Childos Arabic Bold"/>
              </a:rPr>
              <a:t>LIMITACIONES</a:t>
            </a:r>
          </a:p>
        </p:txBody>
      </p:sp>
      <p:sp>
        <p:nvSpPr>
          <p:cNvPr name="TextBox 13" id="13"/>
          <p:cNvSpPr txBox="true"/>
          <p:nvPr/>
        </p:nvSpPr>
        <p:spPr>
          <a:xfrm rot="0">
            <a:off x="12448122" y="2199606"/>
            <a:ext cx="4197388" cy="1000125"/>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SE</a:t>
            </a:r>
            <a:r>
              <a:rPr lang="en-US" sz="2189">
                <a:solidFill>
                  <a:srgbClr val="FFFAF7"/>
                </a:solidFill>
                <a:latin typeface="Comic Sans"/>
                <a:ea typeface="Comic Sans"/>
                <a:cs typeface="Comic Sans"/>
                <a:sym typeface="Comic Sans"/>
              </a:rPr>
              <a:t>RVICIOS EXTERNOS</a:t>
            </a:r>
          </a:p>
          <a:p>
            <a:pPr algn="ctr">
              <a:lnSpc>
                <a:spcPts val="2627"/>
              </a:lnSpc>
              <a:spcBef>
                <a:spcPct val="0"/>
              </a:spcBef>
            </a:pPr>
            <a:r>
              <a:rPr lang="en-US" sz="2189">
                <a:solidFill>
                  <a:srgbClr val="FFFAF7"/>
                </a:solidFill>
                <a:latin typeface="Comic Sans"/>
                <a:ea typeface="Comic Sans"/>
                <a:cs typeface="Comic Sans"/>
                <a:sym typeface="Comic Sans"/>
              </a:rPr>
              <a:t> Dependencia d</a:t>
            </a:r>
            <a:r>
              <a:rPr lang="en-US" sz="2189">
                <a:solidFill>
                  <a:srgbClr val="FFFAF7"/>
                </a:solidFill>
                <a:latin typeface="Comic Sans"/>
                <a:ea typeface="Comic Sans"/>
                <a:cs typeface="Comic Sans"/>
                <a:sym typeface="Comic Sans"/>
              </a:rPr>
              <a:t>e APIs para algunas funciones</a:t>
            </a:r>
          </a:p>
        </p:txBody>
      </p:sp>
      <p:sp>
        <p:nvSpPr>
          <p:cNvPr name="TextBox 14" id="14"/>
          <p:cNvSpPr txBox="true"/>
          <p:nvPr/>
        </p:nvSpPr>
        <p:spPr>
          <a:xfrm rot="0">
            <a:off x="7202413" y="4329699"/>
            <a:ext cx="4197388" cy="1666875"/>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INVENTARIO</a:t>
            </a:r>
          </a:p>
          <a:p>
            <a:pPr algn="ctr">
              <a:lnSpc>
                <a:spcPts val="2627"/>
              </a:lnSpc>
              <a:spcBef>
                <a:spcPct val="0"/>
              </a:spcBef>
            </a:pPr>
            <a:r>
              <a:rPr lang="en-US" sz="2189">
                <a:solidFill>
                  <a:srgbClr val="FFFAF7"/>
                </a:solidFill>
                <a:latin typeface="Comic Sans"/>
                <a:ea typeface="Comic Sans"/>
                <a:cs typeface="Comic Sans"/>
                <a:sym typeface="Comic Sans"/>
              </a:rPr>
              <a:t>El segu</a:t>
            </a:r>
            <a:r>
              <a:rPr lang="en-US" sz="2189">
                <a:solidFill>
                  <a:srgbClr val="FFFAF7"/>
                </a:solidFill>
                <a:latin typeface="Comic Sans"/>
                <a:ea typeface="Comic Sans"/>
                <a:cs typeface="Comic Sans"/>
                <a:sym typeface="Comic Sans"/>
              </a:rPr>
              <a:t>imiento del inventario depende de la constancia de los usuarios en registrar entradas y salidas de productos.</a:t>
            </a:r>
          </a:p>
        </p:txBody>
      </p:sp>
      <p:sp>
        <p:nvSpPr>
          <p:cNvPr name="TextBox 15" id="15"/>
          <p:cNvSpPr txBox="true"/>
          <p:nvPr/>
        </p:nvSpPr>
        <p:spPr>
          <a:xfrm rot="0">
            <a:off x="12448122" y="3504865"/>
            <a:ext cx="4197388" cy="1000125"/>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VA</a:t>
            </a:r>
            <a:r>
              <a:rPr lang="en-US" sz="2189">
                <a:solidFill>
                  <a:srgbClr val="FFFAF7"/>
                </a:solidFill>
                <a:latin typeface="Comic Sans"/>
                <a:ea typeface="Comic Sans"/>
                <a:cs typeface="Comic Sans"/>
                <a:sym typeface="Comic Sans"/>
              </a:rPr>
              <a:t>LIDACIÓN</a:t>
            </a:r>
          </a:p>
          <a:p>
            <a:pPr algn="ctr">
              <a:lnSpc>
                <a:spcPts val="2627"/>
              </a:lnSpc>
              <a:spcBef>
                <a:spcPct val="0"/>
              </a:spcBef>
            </a:pPr>
            <a:r>
              <a:rPr lang="en-US" sz="2189">
                <a:solidFill>
                  <a:srgbClr val="FFFAF7"/>
                </a:solidFill>
                <a:latin typeface="Comic Sans"/>
                <a:ea typeface="Comic Sans"/>
                <a:cs typeface="Comic Sans"/>
                <a:sym typeface="Comic Sans"/>
              </a:rPr>
              <a:t> Prueb</a:t>
            </a:r>
            <a:r>
              <a:rPr lang="en-US" sz="2189">
                <a:solidFill>
                  <a:srgbClr val="FFFAF7"/>
                </a:solidFill>
                <a:latin typeface="Comic Sans"/>
                <a:ea typeface="Comic Sans"/>
                <a:cs typeface="Comic Sans"/>
                <a:sym typeface="Comic Sans"/>
              </a:rPr>
              <a:t>as realizadas con una cantidad limitada de usuarios</a:t>
            </a:r>
          </a:p>
        </p:txBody>
      </p:sp>
      <p:sp>
        <p:nvSpPr>
          <p:cNvPr name="TextBox 16" id="16"/>
          <p:cNvSpPr txBox="true"/>
          <p:nvPr/>
        </p:nvSpPr>
        <p:spPr>
          <a:xfrm rot="0">
            <a:off x="12869523" y="6598567"/>
            <a:ext cx="3354586" cy="666750"/>
          </a:xfrm>
          <a:prstGeom prst="rect">
            <a:avLst/>
          </a:prstGeom>
        </p:spPr>
        <p:txBody>
          <a:bodyPr anchor="t" rtlCol="false" tIns="0" lIns="0" bIns="0" rIns="0">
            <a:spAutoFit/>
          </a:bodyPr>
          <a:lstStyle/>
          <a:p>
            <a:pPr algn="ctr">
              <a:lnSpc>
                <a:spcPts val="2627"/>
              </a:lnSpc>
              <a:spcBef>
                <a:spcPct val="0"/>
              </a:spcBef>
            </a:pPr>
            <a:r>
              <a:rPr lang="en-US" sz="2189">
                <a:solidFill>
                  <a:srgbClr val="FFFAF7"/>
                </a:solidFill>
                <a:latin typeface="Comic Sans"/>
                <a:ea typeface="Comic Sans"/>
                <a:cs typeface="Comic Sans"/>
                <a:sym typeface="Comic Sans"/>
              </a:rPr>
              <a:t> PLATAFORMA</a:t>
            </a:r>
          </a:p>
          <a:p>
            <a:pPr algn="ctr">
              <a:lnSpc>
                <a:spcPts val="2627"/>
              </a:lnSpc>
              <a:spcBef>
                <a:spcPct val="0"/>
              </a:spcBef>
            </a:pPr>
            <a:r>
              <a:rPr lang="en-US" sz="2189">
                <a:solidFill>
                  <a:srgbClr val="FFFAF7"/>
                </a:solidFill>
                <a:latin typeface="Comic Sans"/>
                <a:ea typeface="Comic Sans"/>
                <a:cs typeface="Comic Sans"/>
                <a:sym typeface="Comic Sans"/>
              </a:rPr>
              <a:t> Solo dispositivos Android</a:t>
            </a:r>
          </a:p>
        </p:txBody>
      </p:sp>
      <p:sp>
        <p:nvSpPr>
          <p:cNvPr name="TextBox 17" id="17"/>
          <p:cNvSpPr txBox="true"/>
          <p:nvPr/>
        </p:nvSpPr>
        <p:spPr>
          <a:xfrm rot="0">
            <a:off x="12448122" y="4810125"/>
            <a:ext cx="4197388" cy="1333500"/>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LEY 21.719</a:t>
            </a:r>
          </a:p>
          <a:p>
            <a:pPr algn="ctr">
              <a:lnSpc>
                <a:spcPts val="2627"/>
              </a:lnSpc>
              <a:spcBef>
                <a:spcPct val="0"/>
              </a:spcBef>
            </a:pPr>
            <a:r>
              <a:rPr lang="en-US" sz="2189">
                <a:solidFill>
                  <a:srgbClr val="FFFAF7"/>
                </a:solidFill>
                <a:latin typeface="Comic Sans"/>
                <a:ea typeface="Comic Sans"/>
                <a:cs typeface="Comic Sans"/>
                <a:sym typeface="Comic Sans"/>
              </a:rPr>
              <a:t>Adecuar la solucion bajo los requeremientos legales, como la nueva ley 21.719</a:t>
            </a:r>
          </a:p>
        </p:txBody>
      </p:sp>
      <p:sp>
        <p:nvSpPr>
          <p:cNvPr name="TextBox 18" id="18"/>
          <p:cNvSpPr txBox="true"/>
          <p:nvPr/>
        </p:nvSpPr>
        <p:spPr>
          <a:xfrm rot="0">
            <a:off x="7215801" y="6395883"/>
            <a:ext cx="4960958" cy="1666875"/>
          </a:xfrm>
          <a:prstGeom prst="rect">
            <a:avLst/>
          </a:prstGeom>
        </p:spPr>
        <p:txBody>
          <a:bodyPr anchor="t" rtlCol="false" tIns="0" lIns="0" bIns="0" rIns="0">
            <a:spAutoFit/>
          </a:bodyPr>
          <a:lstStyle/>
          <a:p>
            <a:pPr algn="ctr">
              <a:lnSpc>
                <a:spcPts val="2627"/>
              </a:lnSpc>
            </a:pPr>
            <a:r>
              <a:rPr lang="en-US" sz="2189">
                <a:solidFill>
                  <a:srgbClr val="FFFAF7"/>
                </a:solidFill>
                <a:latin typeface="Comic Sans"/>
                <a:ea typeface="Comic Sans"/>
                <a:cs typeface="Comic Sans"/>
                <a:sym typeface="Comic Sans"/>
              </a:rPr>
              <a:t>PRECISIÓN</a:t>
            </a:r>
          </a:p>
          <a:p>
            <a:pPr algn="ctr">
              <a:lnSpc>
                <a:spcPts val="2627"/>
              </a:lnSpc>
              <a:spcBef>
                <a:spcPct val="0"/>
              </a:spcBef>
            </a:pPr>
            <a:r>
              <a:rPr lang="en-US" sz="2189">
                <a:solidFill>
                  <a:srgbClr val="FFFAF7"/>
                </a:solidFill>
                <a:latin typeface="Comic Sans"/>
                <a:ea typeface="Comic Sans"/>
                <a:cs typeface="Comic Sans"/>
                <a:sym typeface="Comic Sans"/>
              </a:rPr>
              <a:t>Los cálculos de desperdicios y consumo no podrán ser tan precisos, se espera un desviación en la captura de datos.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65638">
            <a:off x="2521807" y="1181221"/>
            <a:ext cx="13244387" cy="7924558"/>
          </a:xfrm>
          <a:custGeom>
            <a:avLst/>
            <a:gdLst/>
            <a:ahLst/>
            <a:cxnLst/>
            <a:rect r="r" b="b" t="t" l="l"/>
            <a:pathLst>
              <a:path h="7924558" w="13244387">
                <a:moveTo>
                  <a:pt x="0" y="0"/>
                </a:moveTo>
                <a:lnTo>
                  <a:pt x="13244386" y="0"/>
                </a:lnTo>
                <a:lnTo>
                  <a:pt x="13244386" y="7924558"/>
                </a:lnTo>
                <a:lnTo>
                  <a:pt x="0" y="792455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28092">
            <a:off x="-2340276" y="6927747"/>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323303">
            <a:off x="14263824" y="-2433533"/>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8247948">
            <a:off x="15370504" y="6394999"/>
            <a:ext cx="2411733" cy="4909381"/>
          </a:xfrm>
          <a:custGeom>
            <a:avLst/>
            <a:gdLst/>
            <a:ahLst/>
            <a:cxnLst/>
            <a:rect r="r" b="b" t="t" l="l"/>
            <a:pathLst>
              <a:path h="4909381" w="2411733">
                <a:moveTo>
                  <a:pt x="0" y="0"/>
                </a:moveTo>
                <a:lnTo>
                  <a:pt x="2411734" y="0"/>
                </a:lnTo>
                <a:lnTo>
                  <a:pt x="2411734" y="4909381"/>
                </a:lnTo>
                <a:lnTo>
                  <a:pt x="0" y="49093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843637">
            <a:off x="976721" y="4510250"/>
            <a:ext cx="999664" cy="999664"/>
          </a:xfrm>
          <a:custGeom>
            <a:avLst/>
            <a:gdLst/>
            <a:ahLst/>
            <a:cxnLst/>
            <a:rect r="r" b="b" t="t" l="l"/>
            <a:pathLst>
              <a:path h="999664" w="999664">
                <a:moveTo>
                  <a:pt x="0" y="0"/>
                </a:moveTo>
                <a:lnTo>
                  <a:pt x="999664" y="0"/>
                </a:lnTo>
                <a:lnTo>
                  <a:pt x="999664" y="999665"/>
                </a:lnTo>
                <a:lnTo>
                  <a:pt x="0" y="99966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2843637">
            <a:off x="16431643" y="572585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4129766">
            <a:off x="11907504" y="1127265"/>
            <a:ext cx="671296" cy="671296"/>
          </a:xfrm>
          <a:custGeom>
            <a:avLst/>
            <a:gdLst/>
            <a:ahLst/>
            <a:cxnLst/>
            <a:rect r="r" b="b" t="t" l="l"/>
            <a:pathLst>
              <a:path h="671296" w="671296">
                <a:moveTo>
                  <a:pt x="0" y="0"/>
                </a:moveTo>
                <a:lnTo>
                  <a:pt x="671295" y="0"/>
                </a:lnTo>
                <a:lnTo>
                  <a:pt x="671295" y="671295"/>
                </a:lnTo>
                <a:lnTo>
                  <a:pt x="0" y="671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4129766">
            <a:off x="5274988" y="8791276"/>
            <a:ext cx="671296" cy="671296"/>
          </a:xfrm>
          <a:custGeom>
            <a:avLst/>
            <a:gdLst/>
            <a:ahLst/>
            <a:cxnLst/>
            <a:rect r="r" b="b" t="t" l="l"/>
            <a:pathLst>
              <a:path h="671296" w="671296">
                <a:moveTo>
                  <a:pt x="0" y="0"/>
                </a:moveTo>
                <a:lnTo>
                  <a:pt x="671296" y="0"/>
                </a:lnTo>
                <a:lnTo>
                  <a:pt x="671296" y="671295"/>
                </a:lnTo>
                <a:lnTo>
                  <a:pt x="0" y="671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0">
            <a:off x="1105621" y="5981715"/>
            <a:ext cx="3386883" cy="2961983"/>
          </a:xfrm>
          <a:custGeom>
            <a:avLst/>
            <a:gdLst/>
            <a:ahLst/>
            <a:cxnLst/>
            <a:rect r="r" b="b" t="t" l="l"/>
            <a:pathLst>
              <a:path h="2961983" w="3386883">
                <a:moveTo>
                  <a:pt x="0" y="0"/>
                </a:moveTo>
                <a:lnTo>
                  <a:pt x="3386883" y="0"/>
                </a:lnTo>
                <a:lnTo>
                  <a:pt x="3386883" y="2961982"/>
                </a:lnTo>
                <a:lnTo>
                  <a:pt x="0" y="296198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1295034">
            <a:off x="14055061" y="591292"/>
            <a:ext cx="2170162" cy="4101680"/>
          </a:xfrm>
          <a:custGeom>
            <a:avLst/>
            <a:gdLst/>
            <a:ahLst/>
            <a:cxnLst/>
            <a:rect r="r" b="b" t="t" l="l"/>
            <a:pathLst>
              <a:path h="4101680" w="2170162">
                <a:moveTo>
                  <a:pt x="0" y="0"/>
                </a:moveTo>
                <a:lnTo>
                  <a:pt x="2170161" y="0"/>
                </a:lnTo>
                <a:lnTo>
                  <a:pt x="2170161" y="4101680"/>
                </a:lnTo>
                <a:lnTo>
                  <a:pt x="0" y="410168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3" id="13"/>
          <p:cNvSpPr txBox="true"/>
          <p:nvPr/>
        </p:nvSpPr>
        <p:spPr>
          <a:xfrm rot="0">
            <a:off x="3929420" y="3767687"/>
            <a:ext cx="10429161" cy="1500015"/>
          </a:xfrm>
          <a:prstGeom prst="rect">
            <a:avLst/>
          </a:prstGeom>
        </p:spPr>
        <p:txBody>
          <a:bodyPr anchor="t" rtlCol="false" tIns="0" lIns="0" bIns="0" rIns="0">
            <a:spAutoFit/>
          </a:bodyPr>
          <a:lstStyle/>
          <a:p>
            <a:pPr algn="ctr">
              <a:lnSpc>
                <a:spcPts val="11146"/>
              </a:lnSpc>
              <a:spcBef>
                <a:spcPct val="0"/>
              </a:spcBef>
            </a:pPr>
            <a:r>
              <a:rPr lang="en-US" b="true" sz="9288">
                <a:solidFill>
                  <a:srgbClr val="FFFAF7"/>
                </a:solidFill>
                <a:latin typeface="Childos Arabic Bold"/>
                <a:ea typeface="Childos Arabic Bold"/>
                <a:cs typeface="Childos Arabic Bold"/>
                <a:sym typeface="Childos Arabic Bold"/>
              </a:rPr>
              <a:t>Metodologia Cascada</a:t>
            </a:r>
          </a:p>
        </p:txBody>
      </p:sp>
      <p:sp>
        <p:nvSpPr>
          <p:cNvPr name="TextBox 14" id="14"/>
          <p:cNvSpPr txBox="true"/>
          <p:nvPr/>
        </p:nvSpPr>
        <p:spPr>
          <a:xfrm rot="0">
            <a:off x="3258277" y="5541973"/>
            <a:ext cx="11590571" cy="367839"/>
          </a:xfrm>
          <a:prstGeom prst="rect">
            <a:avLst/>
          </a:prstGeom>
        </p:spPr>
        <p:txBody>
          <a:bodyPr anchor="t" rtlCol="false" tIns="0" lIns="0" bIns="0" rIns="0">
            <a:spAutoFit/>
          </a:bodyPr>
          <a:lstStyle/>
          <a:p>
            <a:pPr algn="ctr">
              <a:lnSpc>
                <a:spcPts val="2971"/>
              </a:lnSpc>
              <a:spcBef>
                <a:spcPct val="0"/>
              </a:spcBef>
            </a:pPr>
            <a:r>
              <a:rPr lang="en-US" sz="2476">
                <a:solidFill>
                  <a:srgbClr val="FFFAF7"/>
                </a:solidFill>
                <a:latin typeface="Comic Sans"/>
                <a:ea typeface="Comic Sans"/>
                <a:cs typeface="Comic Sans"/>
                <a:sym typeface="Comic Sans"/>
              </a:rPr>
              <a:t>ANÁLISIS → DISEÑO</a:t>
            </a:r>
            <a:r>
              <a:rPr lang="en-US" sz="2476">
                <a:solidFill>
                  <a:srgbClr val="FFFAF7"/>
                </a:solidFill>
                <a:latin typeface="Comic Sans"/>
                <a:ea typeface="Comic Sans"/>
                <a:cs typeface="Comic Sans"/>
                <a:sym typeface="Comic Sans"/>
              </a:rPr>
              <a:t> → DESARROLLO → PRUEBAS → IMPLEMENTACIÓN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65638">
            <a:off x="711915" y="200572"/>
            <a:ext cx="16328542" cy="9769911"/>
          </a:xfrm>
          <a:custGeom>
            <a:avLst/>
            <a:gdLst/>
            <a:ahLst/>
            <a:cxnLst/>
            <a:rect r="r" b="b" t="t" l="l"/>
            <a:pathLst>
              <a:path h="9769911" w="16328542">
                <a:moveTo>
                  <a:pt x="0" y="0"/>
                </a:moveTo>
                <a:lnTo>
                  <a:pt x="16328542" y="0"/>
                </a:lnTo>
                <a:lnTo>
                  <a:pt x="16328542" y="9769911"/>
                </a:lnTo>
                <a:lnTo>
                  <a:pt x="0" y="9769911"/>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28092">
            <a:off x="-2320262" y="7007802"/>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323303">
            <a:off x="14283838" y="-2353478"/>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039206">
            <a:off x="14048368" y="1466725"/>
            <a:ext cx="3017538" cy="3039644"/>
          </a:xfrm>
          <a:custGeom>
            <a:avLst/>
            <a:gdLst/>
            <a:ahLst/>
            <a:cxnLst/>
            <a:rect r="r" b="b" t="t" l="l"/>
            <a:pathLst>
              <a:path h="3039644" w="3017538">
                <a:moveTo>
                  <a:pt x="0" y="0"/>
                </a:moveTo>
                <a:lnTo>
                  <a:pt x="3017538" y="0"/>
                </a:lnTo>
                <a:lnTo>
                  <a:pt x="3017538" y="3039644"/>
                </a:lnTo>
                <a:lnTo>
                  <a:pt x="0" y="30396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976150">
            <a:off x="1509044" y="6392315"/>
            <a:ext cx="2770615" cy="2919231"/>
          </a:xfrm>
          <a:custGeom>
            <a:avLst/>
            <a:gdLst/>
            <a:ahLst/>
            <a:cxnLst/>
            <a:rect r="r" b="b" t="t" l="l"/>
            <a:pathLst>
              <a:path h="2919231" w="2770615">
                <a:moveTo>
                  <a:pt x="0" y="0"/>
                </a:moveTo>
                <a:lnTo>
                  <a:pt x="2770615" y="0"/>
                </a:lnTo>
                <a:lnTo>
                  <a:pt x="2770615" y="2919230"/>
                </a:lnTo>
                <a:lnTo>
                  <a:pt x="0" y="29192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4868912" y="2276800"/>
            <a:ext cx="9351434" cy="1217826"/>
          </a:xfrm>
          <a:prstGeom prst="rect">
            <a:avLst/>
          </a:prstGeom>
        </p:spPr>
        <p:txBody>
          <a:bodyPr anchor="t" rtlCol="false" tIns="0" lIns="0" bIns="0" rIns="0">
            <a:spAutoFit/>
          </a:bodyPr>
          <a:lstStyle/>
          <a:p>
            <a:pPr algn="ctr">
              <a:lnSpc>
                <a:spcPts val="9072"/>
              </a:lnSpc>
              <a:spcBef>
                <a:spcPct val="0"/>
              </a:spcBef>
            </a:pPr>
            <a:r>
              <a:rPr lang="en-US" b="true" sz="7560">
                <a:solidFill>
                  <a:srgbClr val="FFFAF7"/>
                </a:solidFill>
                <a:latin typeface="Childos Arabic Bold"/>
                <a:ea typeface="Childos Arabic Bold"/>
                <a:cs typeface="Childos Arabic Bold"/>
                <a:sym typeface="Childos Arabic Bold"/>
              </a:rPr>
              <a:t>Tecnologia</a:t>
            </a:r>
          </a:p>
        </p:txBody>
      </p:sp>
      <p:sp>
        <p:nvSpPr>
          <p:cNvPr name="Freeform 8" id="8"/>
          <p:cNvSpPr/>
          <p:nvPr/>
        </p:nvSpPr>
        <p:spPr>
          <a:xfrm flipH="false" flipV="false" rot="5742372">
            <a:off x="539778" y="-842404"/>
            <a:ext cx="4151122" cy="4114800"/>
          </a:xfrm>
          <a:custGeom>
            <a:avLst/>
            <a:gdLst/>
            <a:ahLst/>
            <a:cxnLst/>
            <a:rect r="r" b="b" t="t" l="l"/>
            <a:pathLst>
              <a:path h="4114800" w="4151122">
                <a:moveTo>
                  <a:pt x="0" y="0"/>
                </a:moveTo>
                <a:lnTo>
                  <a:pt x="4151122" y="0"/>
                </a:lnTo>
                <a:lnTo>
                  <a:pt x="4151122"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8247948">
            <a:off x="15390518" y="6475054"/>
            <a:ext cx="2411733" cy="4909381"/>
          </a:xfrm>
          <a:custGeom>
            <a:avLst/>
            <a:gdLst/>
            <a:ahLst/>
            <a:cxnLst/>
            <a:rect r="r" b="b" t="t" l="l"/>
            <a:pathLst>
              <a:path h="4909381" w="2411733">
                <a:moveTo>
                  <a:pt x="0" y="0"/>
                </a:moveTo>
                <a:lnTo>
                  <a:pt x="2411733" y="0"/>
                </a:lnTo>
                <a:lnTo>
                  <a:pt x="2411733" y="4909380"/>
                </a:lnTo>
                <a:lnTo>
                  <a:pt x="0" y="490938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2843637">
            <a:off x="996735" y="4590305"/>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2843637">
            <a:off x="16451656" y="5805912"/>
            <a:ext cx="999664" cy="999664"/>
          </a:xfrm>
          <a:custGeom>
            <a:avLst/>
            <a:gdLst/>
            <a:ahLst/>
            <a:cxnLst/>
            <a:rect r="r" b="b" t="t" l="l"/>
            <a:pathLst>
              <a:path h="999664" w="999664">
                <a:moveTo>
                  <a:pt x="0" y="0"/>
                </a:moveTo>
                <a:lnTo>
                  <a:pt x="999665" y="0"/>
                </a:lnTo>
                <a:lnTo>
                  <a:pt x="999665" y="999665"/>
                </a:lnTo>
                <a:lnTo>
                  <a:pt x="0" y="99966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4129766">
            <a:off x="11927517" y="1207319"/>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3" id="13"/>
          <p:cNvSpPr txBox="true"/>
          <p:nvPr/>
        </p:nvSpPr>
        <p:spPr>
          <a:xfrm rot="0">
            <a:off x="5375291" y="4059529"/>
            <a:ext cx="4111296" cy="3089451"/>
          </a:xfrm>
          <a:prstGeom prst="rect">
            <a:avLst/>
          </a:prstGeom>
        </p:spPr>
        <p:txBody>
          <a:bodyPr anchor="t" rtlCol="false" tIns="0" lIns="0" bIns="0" rIns="0">
            <a:spAutoFit/>
          </a:bodyPr>
          <a:lstStyle/>
          <a:p>
            <a:pPr algn="l" marL="627882" indent="-313941" lvl="1">
              <a:lnSpc>
                <a:spcPts val="3489"/>
              </a:lnSpc>
              <a:buFont typeface="Arial"/>
              <a:buChar char="•"/>
            </a:pPr>
            <a:r>
              <a:rPr lang="en-US" sz="2908">
                <a:solidFill>
                  <a:srgbClr val="FFFAF7"/>
                </a:solidFill>
                <a:latin typeface="Comic Sans"/>
                <a:ea typeface="Comic Sans"/>
                <a:cs typeface="Comic Sans"/>
                <a:sym typeface="Comic Sans"/>
              </a:rPr>
              <a:t>📱 Aplicación móvil</a:t>
            </a:r>
          </a:p>
          <a:p>
            <a:pPr algn="l" marL="627882" indent="-313941" lvl="1">
              <a:lnSpc>
                <a:spcPts val="3489"/>
              </a:lnSpc>
              <a:buFont typeface="Arial"/>
              <a:buChar char="•"/>
            </a:pPr>
            <a:r>
              <a:rPr lang="en-US" sz="2908">
                <a:solidFill>
                  <a:srgbClr val="FFFAF7"/>
                </a:solidFill>
                <a:latin typeface="Comic Sans"/>
                <a:ea typeface="Comic Sans"/>
                <a:cs typeface="Comic Sans"/>
                <a:sym typeface="Comic Sans"/>
              </a:rPr>
              <a:t> Android</a:t>
            </a:r>
          </a:p>
          <a:p>
            <a:pPr algn="l" marL="627882" indent="-313941" lvl="1">
              <a:lnSpc>
                <a:spcPts val="3489"/>
              </a:lnSpc>
              <a:buFont typeface="Arial"/>
              <a:buChar char="•"/>
            </a:pPr>
            <a:r>
              <a:rPr lang="en-US" sz="2908">
                <a:solidFill>
                  <a:srgbClr val="FFFAF7"/>
                </a:solidFill>
                <a:latin typeface="Comic Sans"/>
                <a:ea typeface="Comic Sans"/>
                <a:cs typeface="Comic Sans"/>
                <a:sym typeface="Comic Sans"/>
              </a:rPr>
              <a:t>⚙️ Backend</a:t>
            </a:r>
          </a:p>
          <a:p>
            <a:pPr algn="l" marL="627882" indent="-313941" lvl="1">
              <a:lnSpc>
                <a:spcPts val="3489"/>
              </a:lnSpc>
              <a:buFont typeface="Arial"/>
              <a:buChar char="•"/>
            </a:pPr>
            <a:r>
              <a:rPr lang="en-US" sz="2908">
                <a:solidFill>
                  <a:srgbClr val="FFFAF7"/>
                </a:solidFill>
                <a:latin typeface="Comic Sans"/>
                <a:ea typeface="Comic Sans"/>
                <a:cs typeface="Comic Sans"/>
                <a:sym typeface="Comic Sans"/>
              </a:rPr>
              <a:t>API REST</a:t>
            </a:r>
          </a:p>
          <a:p>
            <a:pPr algn="l" marL="627882" indent="-313941" lvl="1">
              <a:lnSpc>
                <a:spcPts val="3489"/>
              </a:lnSpc>
              <a:buFont typeface="Arial"/>
              <a:buChar char="•"/>
            </a:pPr>
            <a:r>
              <a:rPr lang="en-US" sz="2908">
                <a:solidFill>
                  <a:srgbClr val="FFFAF7"/>
                </a:solidFill>
                <a:latin typeface="Comic Sans"/>
                <a:ea typeface="Comic Sans"/>
                <a:cs typeface="Comic Sans"/>
                <a:sym typeface="Comic Sans"/>
              </a:rPr>
              <a:t>🗄️ Base de datos</a:t>
            </a:r>
          </a:p>
          <a:p>
            <a:pPr algn="l" marL="627882" indent="-313941" lvl="1">
              <a:lnSpc>
                <a:spcPts val="3489"/>
              </a:lnSpc>
              <a:buFont typeface="Arial"/>
              <a:buChar char="•"/>
            </a:pPr>
            <a:r>
              <a:rPr lang="en-US" sz="2908">
                <a:solidFill>
                  <a:srgbClr val="FFFAF7"/>
                </a:solidFill>
                <a:latin typeface="Comic Sans"/>
                <a:ea typeface="Comic Sans"/>
                <a:cs typeface="Comic Sans"/>
                <a:sym typeface="Comic Sans"/>
              </a:rPr>
              <a:t>Supabase</a:t>
            </a:r>
          </a:p>
          <a:p>
            <a:pPr algn="l">
              <a:lnSpc>
                <a:spcPts val="3489"/>
              </a:lnSpc>
            </a:pPr>
          </a:p>
        </p:txBody>
      </p:sp>
      <p:sp>
        <p:nvSpPr>
          <p:cNvPr name="TextBox 14" id="14"/>
          <p:cNvSpPr txBox="true"/>
          <p:nvPr/>
        </p:nvSpPr>
        <p:spPr>
          <a:xfrm rot="0">
            <a:off x="9486587" y="4050004"/>
            <a:ext cx="6071116" cy="2514600"/>
          </a:xfrm>
          <a:prstGeom prst="rect">
            <a:avLst/>
          </a:prstGeom>
        </p:spPr>
        <p:txBody>
          <a:bodyPr anchor="t" rtlCol="false" tIns="0" lIns="0" bIns="0" rIns="0">
            <a:spAutoFit/>
          </a:bodyPr>
          <a:lstStyle/>
          <a:p>
            <a:pPr algn="l" marL="600230" indent="-300115" lvl="1">
              <a:lnSpc>
                <a:spcPts val="3336"/>
              </a:lnSpc>
              <a:spcBef>
                <a:spcPct val="0"/>
              </a:spcBef>
              <a:buFont typeface="Arial"/>
              <a:buChar char="•"/>
            </a:pPr>
            <a:r>
              <a:rPr lang="en-US" sz="2780" strike="noStrike" u="none">
                <a:solidFill>
                  <a:srgbClr val="FFFAF7"/>
                </a:solidFill>
                <a:latin typeface="Comic Sans"/>
                <a:ea typeface="Comic Sans"/>
                <a:cs typeface="Comic Sans"/>
                <a:sym typeface="Comic Sans"/>
              </a:rPr>
              <a:t>📷 Escaneo</a:t>
            </a:r>
          </a:p>
          <a:p>
            <a:pPr algn="l" marL="600230" indent="-300115" lvl="1">
              <a:lnSpc>
                <a:spcPts val="3336"/>
              </a:lnSpc>
              <a:spcBef>
                <a:spcPct val="0"/>
              </a:spcBef>
              <a:buFont typeface="Arial"/>
              <a:buChar char="•"/>
            </a:pPr>
            <a:r>
              <a:rPr lang="en-US" sz="2780" strike="noStrike" u="none">
                <a:solidFill>
                  <a:srgbClr val="FFFAF7"/>
                </a:solidFill>
                <a:latin typeface="Comic Sans"/>
                <a:ea typeface="Comic Sans"/>
                <a:cs typeface="Comic Sans"/>
                <a:sym typeface="Comic Sans"/>
              </a:rPr>
              <a:t>Código de barras · Boletas</a:t>
            </a:r>
          </a:p>
          <a:p>
            <a:pPr algn="l" marL="600230" indent="-300115" lvl="1">
              <a:lnSpc>
                <a:spcPts val="3336"/>
              </a:lnSpc>
              <a:spcBef>
                <a:spcPct val="0"/>
              </a:spcBef>
              <a:buFont typeface="Arial"/>
              <a:buChar char="•"/>
            </a:pPr>
            <a:r>
              <a:rPr lang="en-US" sz="2780" strike="noStrike" u="none">
                <a:solidFill>
                  <a:srgbClr val="FFFAF7"/>
                </a:solidFill>
                <a:latin typeface="Comic Sans"/>
                <a:ea typeface="Comic Sans"/>
                <a:cs typeface="Comic Sans"/>
                <a:sym typeface="Comic Sans"/>
              </a:rPr>
              <a:t>🍳 Recetas</a:t>
            </a:r>
          </a:p>
          <a:p>
            <a:pPr algn="l" marL="600230" indent="-300115" lvl="1">
              <a:lnSpc>
                <a:spcPts val="3336"/>
              </a:lnSpc>
              <a:spcBef>
                <a:spcPct val="0"/>
              </a:spcBef>
              <a:buFont typeface="Arial"/>
              <a:buChar char="•"/>
            </a:pPr>
            <a:r>
              <a:rPr lang="en-US" sz="2780" strike="noStrike" u="none">
                <a:solidFill>
                  <a:srgbClr val="FFFAF7"/>
                </a:solidFill>
                <a:latin typeface="Comic Sans"/>
                <a:ea typeface="Comic Sans"/>
                <a:cs typeface="Comic Sans"/>
                <a:sym typeface="Comic Sans"/>
              </a:rPr>
              <a:t>API externa</a:t>
            </a:r>
          </a:p>
          <a:p>
            <a:pPr algn="l" marL="600230" indent="-300115" lvl="1">
              <a:lnSpc>
                <a:spcPts val="3336"/>
              </a:lnSpc>
              <a:spcBef>
                <a:spcPct val="0"/>
              </a:spcBef>
              <a:buFont typeface="Arial"/>
              <a:buChar char="•"/>
            </a:pPr>
            <a:r>
              <a:rPr lang="en-US" sz="2780" strike="noStrike" u="none">
                <a:solidFill>
                  <a:srgbClr val="FFFAF7"/>
                </a:solidFill>
                <a:latin typeface="Comic Sans"/>
                <a:ea typeface="Comic Sans"/>
                <a:cs typeface="Comic Sans"/>
                <a:sym typeface="Comic Sans"/>
              </a:rPr>
              <a:t>🔐 Seguridad</a:t>
            </a:r>
          </a:p>
          <a:p>
            <a:pPr algn="l" marL="600230" indent="-300115" lvl="1">
              <a:lnSpc>
                <a:spcPts val="3336"/>
              </a:lnSpc>
              <a:spcBef>
                <a:spcPct val="0"/>
              </a:spcBef>
              <a:buFont typeface="Arial"/>
              <a:buChar char="•"/>
            </a:pPr>
            <a:r>
              <a:rPr lang="en-US" sz="2780" strike="noStrike" u="none">
                <a:solidFill>
                  <a:srgbClr val="FFFAF7"/>
                </a:solidFill>
                <a:latin typeface="Comic Sans"/>
                <a:ea typeface="Comic Sans"/>
                <a:cs typeface="Comic Sans"/>
                <a:sym typeface="Comic Sans"/>
              </a:rPr>
              <a:t>Autenticación · Control de acceso</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65638">
            <a:off x="1430638" y="621342"/>
            <a:ext cx="15613836" cy="9342279"/>
          </a:xfrm>
          <a:custGeom>
            <a:avLst/>
            <a:gdLst/>
            <a:ahLst/>
            <a:cxnLst/>
            <a:rect r="r" b="b" t="t" l="l"/>
            <a:pathLst>
              <a:path h="9342279" w="15613836">
                <a:moveTo>
                  <a:pt x="0" y="0"/>
                </a:moveTo>
                <a:lnTo>
                  <a:pt x="15613836" y="0"/>
                </a:lnTo>
                <a:lnTo>
                  <a:pt x="15613836" y="9342279"/>
                </a:lnTo>
                <a:lnTo>
                  <a:pt x="0" y="9342279"/>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0628092">
            <a:off x="-2320262" y="7007802"/>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9323303">
            <a:off x="14283838" y="-2353478"/>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2039206">
            <a:off x="14048368" y="1466725"/>
            <a:ext cx="3017538" cy="3039644"/>
          </a:xfrm>
          <a:custGeom>
            <a:avLst/>
            <a:gdLst/>
            <a:ahLst/>
            <a:cxnLst/>
            <a:rect r="r" b="b" t="t" l="l"/>
            <a:pathLst>
              <a:path h="3039644" w="3017538">
                <a:moveTo>
                  <a:pt x="0" y="0"/>
                </a:moveTo>
                <a:lnTo>
                  <a:pt x="3017538" y="0"/>
                </a:lnTo>
                <a:lnTo>
                  <a:pt x="3017538" y="3039644"/>
                </a:lnTo>
                <a:lnTo>
                  <a:pt x="0" y="30396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976150">
            <a:off x="1509044" y="6392315"/>
            <a:ext cx="2770615" cy="2919231"/>
          </a:xfrm>
          <a:custGeom>
            <a:avLst/>
            <a:gdLst/>
            <a:ahLst/>
            <a:cxnLst/>
            <a:rect r="r" b="b" t="t" l="l"/>
            <a:pathLst>
              <a:path h="2919231" w="2770615">
                <a:moveTo>
                  <a:pt x="0" y="0"/>
                </a:moveTo>
                <a:lnTo>
                  <a:pt x="2770615" y="0"/>
                </a:lnTo>
                <a:lnTo>
                  <a:pt x="2770615" y="2919230"/>
                </a:lnTo>
                <a:lnTo>
                  <a:pt x="0" y="291923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770593" y="2748412"/>
            <a:ext cx="9351434" cy="1217826"/>
          </a:xfrm>
          <a:prstGeom prst="rect">
            <a:avLst/>
          </a:prstGeom>
        </p:spPr>
        <p:txBody>
          <a:bodyPr anchor="t" rtlCol="false" tIns="0" lIns="0" bIns="0" rIns="0">
            <a:spAutoFit/>
          </a:bodyPr>
          <a:lstStyle/>
          <a:p>
            <a:pPr algn="ctr">
              <a:lnSpc>
                <a:spcPts val="9072"/>
              </a:lnSpc>
              <a:spcBef>
                <a:spcPct val="0"/>
              </a:spcBef>
            </a:pPr>
            <a:r>
              <a:rPr lang="en-US" b="true" sz="7560">
                <a:solidFill>
                  <a:srgbClr val="FFFAF7"/>
                </a:solidFill>
                <a:latin typeface="Childos Arabic Bold"/>
                <a:ea typeface="Childos Arabic Bold"/>
                <a:cs typeface="Childos Arabic Bold"/>
                <a:sym typeface="Childos Arabic Bold"/>
              </a:rPr>
              <a:t>Cronograma</a:t>
            </a:r>
          </a:p>
        </p:txBody>
      </p:sp>
      <p:sp>
        <p:nvSpPr>
          <p:cNvPr name="TextBox 8" id="8"/>
          <p:cNvSpPr txBox="true"/>
          <p:nvPr/>
        </p:nvSpPr>
        <p:spPr>
          <a:xfrm rot="0">
            <a:off x="3852675" y="4184805"/>
            <a:ext cx="3828139" cy="3333750"/>
          </a:xfrm>
          <a:prstGeom prst="rect">
            <a:avLst/>
          </a:prstGeom>
        </p:spPr>
        <p:txBody>
          <a:bodyPr anchor="t" rtlCol="false" tIns="0" lIns="0" bIns="0" rIns="0">
            <a:spAutoFit/>
          </a:bodyPr>
          <a:lstStyle/>
          <a:p>
            <a:pPr algn="l">
              <a:lnSpc>
                <a:spcPts val="2627"/>
              </a:lnSpc>
            </a:pPr>
            <a:r>
              <a:rPr lang="en-US" sz="2189">
                <a:solidFill>
                  <a:srgbClr val="FFFAF7"/>
                </a:solidFill>
                <a:latin typeface="Comic Sans"/>
                <a:ea typeface="Comic Sans"/>
                <a:cs typeface="Comic Sans"/>
                <a:sym typeface="Comic Sans"/>
              </a:rPr>
              <a:t>Fase 1</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Inv</a:t>
            </a:r>
            <a:r>
              <a:rPr lang="en-US" sz="2189">
                <a:solidFill>
                  <a:srgbClr val="FFFAF7"/>
                </a:solidFill>
                <a:latin typeface="Comic Sans"/>
                <a:ea typeface="Comic Sans"/>
                <a:cs typeface="Comic Sans"/>
                <a:sym typeface="Comic Sans"/>
              </a:rPr>
              <a:t>estigación</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Análisis de antecedentes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Definición del problema</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Definir los objetivos y alcances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Requerimientos funcionales y no funcionales</a:t>
            </a:r>
          </a:p>
          <a:p>
            <a:pPr algn="l">
              <a:lnSpc>
                <a:spcPts val="2627"/>
              </a:lnSpc>
            </a:pPr>
          </a:p>
        </p:txBody>
      </p:sp>
      <p:sp>
        <p:nvSpPr>
          <p:cNvPr name="Freeform 9" id="9"/>
          <p:cNvSpPr/>
          <p:nvPr/>
        </p:nvSpPr>
        <p:spPr>
          <a:xfrm flipH="false" flipV="false" rot="5742372">
            <a:off x="539778" y="-842404"/>
            <a:ext cx="4151122" cy="4114800"/>
          </a:xfrm>
          <a:custGeom>
            <a:avLst/>
            <a:gdLst/>
            <a:ahLst/>
            <a:cxnLst/>
            <a:rect r="r" b="b" t="t" l="l"/>
            <a:pathLst>
              <a:path h="4114800" w="4151122">
                <a:moveTo>
                  <a:pt x="0" y="0"/>
                </a:moveTo>
                <a:lnTo>
                  <a:pt x="4151122" y="0"/>
                </a:lnTo>
                <a:lnTo>
                  <a:pt x="4151122" y="4114800"/>
                </a:lnTo>
                <a:lnTo>
                  <a:pt x="0" y="41148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8247948">
            <a:off x="15390518" y="6475054"/>
            <a:ext cx="2411733" cy="4909381"/>
          </a:xfrm>
          <a:custGeom>
            <a:avLst/>
            <a:gdLst/>
            <a:ahLst/>
            <a:cxnLst/>
            <a:rect r="r" b="b" t="t" l="l"/>
            <a:pathLst>
              <a:path h="4909381" w="2411733">
                <a:moveTo>
                  <a:pt x="0" y="0"/>
                </a:moveTo>
                <a:lnTo>
                  <a:pt x="2411733" y="0"/>
                </a:lnTo>
                <a:lnTo>
                  <a:pt x="2411733" y="4909380"/>
                </a:lnTo>
                <a:lnTo>
                  <a:pt x="0" y="490938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2843637">
            <a:off x="996735" y="4590305"/>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2" id="12"/>
          <p:cNvSpPr/>
          <p:nvPr/>
        </p:nvSpPr>
        <p:spPr>
          <a:xfrm flipH="false" flipV="false" rot="-2843637">
            <a:off x="16451656" y="5805912"/>
            <a:ext cx="999664" cy="999664"/>
          </a:xfrm>
          <a:custGeom>
            <a:avLst/>
            <a:gdLst/>
            <a:ahLst/>
            <a:cxnLst/>
            <a:rect r="r" b="b" t="t" l="l"/>
            <a:pathLst>
              <a:path h="999664" w="999664">
                <a:moveTo>
                  <a:pt x="0" y="0"/>
                </a:moveTo>
                <a:lnTo>
                  <a:pt x="999665" y="0"/>
                </a:lnTo>
                <a:lnTo>
                  <a:pt x="999665" y="999665"/>
                </a:lnTo>
                <a:lnTo>
                  <a:pt x="0" y="999665"/>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4129766">
            <a:off x="11927517" y="1207319"/>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TextBox 14" id="14"/>
          <p:cNvSpPr txBox="true"/>
          <p:nvPr/>
        </p:nvSpPr>
        <p:spPr>
          <a:xfrm rot="0">
            <a:off x="7842738" y="4184805"/>
            <a:ext cx="3828139" cy="4000500"/>
          </a:xfrm>
          <a:prstGeom prst="rect">
            <a:avLst/>
          </a:prstGeom>
        </p:spPr>
        <p:txBody>
          <a:bodyPr anchor="t" rtlCol="false" tIns="0" lIns="0" bIns="0" rIns="0">
            <a:spAutoFit/>
          </a:bodyPr>
          <a:lstStyle/>
          <a:p>
            <a:pPr algn="l">
              <a:lnSpc>
                <a:spcPts val="2627"/>
              </a:lnSpc>
            </a:pPr>
            <a:r>
              <a:rPr lang="en-US" sz="2189">
                <a:solidFill>
                  <a:srgbClr val="FFFAF7"/>
                </a:solidFill>
                <a:latin typeface="Comic Sans"/>
                <a:ea typeface="Comic Sans"/>
                <a:cs typeface="Comic Sans"/>
                <a:sym typeface="Comic Sans"/>
              </a:rPr>
              <a:t>Fase 2</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Diseño del proy</a:t>
            </a:r>
            <a:r>
              <a:rPr lang="en-US" sz="2189">
                <a:solidFill>
                  <a:srgbClr val="FFFAF7"/>
                </a:solidFill>
                <a:latin typeface="Comic Sans"/>
                <a:ea typeface="Comic Sans"/>
                <a:cs typeface="Comic Sans"/>
                <a:sym typeface="Comic Sans"/>
              </a:rPr>
              <a:t>ecto</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Diseño de BD/ arquitectura</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Diseño de la interfaz</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Desarrollo de la app</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Integración de las funcionalidades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Pruebas y validaciones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Corrección de errores</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Documentación</a:t>
            </a:r>
          </a:p>
          <a:p>
            <a:pPr algn="l">
              <a:lnSpc>
                <a:spcPts val="2627"/>
              </a:lnSpc>
            </a:pPr>
          </a:p>
        </p:txBody>
      </p:sp>
      <p:sp>
        <p:nvSpPr>
          <p:cNvPr name="TextBox 15" id="15"/>
          <p:cNvSpPr txBox="true"/>
          <p:nvPr/>
        </p:nvSpPr>
        <p:spPr>
          <a:xfrm rot="0">
            <a:off x="11542464" y="4184805"/>
            <a:ext cx="3828139" cy="2000250"/>
          </a:xfrm>
          <a:prstGeom prst="rect">
            <a:avLst/>
          </a:prstGeom>
        </p:spPr>
        <p:txBody>
          <a:bodyPr anchor="t" rtlCol="false" tIns="0" lIns="0" bIns="0" rIns="0">
            <a:spAutoFit/>
          </a:bodyPr>
          <a:lstStyle/>
          <a:p>
            <a:pPr algn="l">
              <a:lnSpc>
                <a:spcPts val="2627"/>
              </a:lnSpc>
            </a:pPr>
            <a:r>
              <a:rPr lang="en-US" sz="2189">
                <a:solidFill>
                  <a:srgbClr val="FFFAF7"/>
                </a:solidFill>
                <a:latin typeface="Comic Sans"/>
                <a:ea typeface="Comic Sans"/>
                <a:cs typeface="Comic Sans"/>
                <a:sym typeface="Comic Sans"/>
              </a:rPr>
              <a:t>Fase 3</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Pr</a:t>
            </a:r>
            <a:r>
              <a:rPr lang="en-US" sz="2189">
                <a:solidFill>
                  <a:srgbClr val="FFFAF7"/>
                </a:solidFill>
                <a:latin typeface="Comic Sans"/>
                <a:ea typeface="Comic Sans"/>
                <a:cs typeface="Comic Sans"/>
                <a:sym typeface="Comic Sans"/>
              </a:rPr>
              <a:t>eparación de la presentación</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Preparación de la defensa</a:t>
            </a:r>
          </a:p>
          <a:p>
            <a:pPr algn="l" marL="472815" indent="-236407" lvl="1">
              <a:lnSpc>
                <a:spcPts val="2627"/>
              </a:lnSpc>
              <a:buFont typeface="Arial"/>
              <a:buChar char="•"/>
            </a:pPr>
            <a:r>
              <a:rPr lang="en-US" sz="2189">
                <a:solidFill>
                  <a:srgbClr val="FFFAF7"/>
                </a:solidFill>
                <a:latin typeface="Comic Sans"/>
                <a:ea typeface="Comic Sans"/>
                <a:cs typeface="Comic Sans"/>
                <a:sym typeface="Comic Sans"/>
              </a:rPr>
              <a:t>Presentacion final</a:t>
            </a:r>
          </a:p>
          <a:p>
            <a:pPr algn="l">
              <a:lnSpc>
                <a:spcPts val="2627"/>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FFAF7"/>
        </a:solidFill>
      </p:bgPr>
    </p:bg>
    <p:spTree>
      <p:nvGrpSpPr>
        <p:cNvPr id="1" name=""/>
        <p:cNvGrpSpPr/>
        <p:nvPr/>
      </p:nvGrpSpPr>
      <p:grpSpPr>
        <a:xfrm>
          <a:off x="0" y="0"/>
          <a:ext cx="0" cy="0"/>
          <a:chOff x="0" y="0"/>
          <a:chExt cx="0" cy="0"/>
        </a:xfrm>
      </p:grpSpPr>
      <p:sp>
        <p:nvSpPr>
          <p:cNvPr name="Freeform 2" id="2"/>
          <p:cNvSpPr/>
          <p:nvPr/>
        </p:nvSpPr>
        <p:spPr>
          <a:xfrm flipH="false" flipV="false" rot="0">
            <a:off x="2072441" y="2531541"/>
            <a:ext cx="6559723" cy="6092342"/>
          </a:xfrm>
          <a:custGeom>
            <a:avLst/>
            <a:gdLst/>
            <a:ahLst/>
            <a:cxnLst/>
            <a:rect r="r" b="b" t="t" l="l"/>
            <a:pathLst>
              <a:path h="6092342" w="6559723">
                <a:moveTo>
                  <a:pt x="0" y="0"/>
                </a:moveTo>
                <a:lnTo>
                  <a:pt x="6559723" y="0"/>
                </a:lnTo>
                <a:lnTo>
                  <a:pt x="6559723" y="6092343"/>
                </a:lnTo>
                <a:lnTo>
                  <a:pt x="0" y="60923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a:ln cap="sq">
            <a:noFill/>
            <a:prstDash val="solid"/>
            <a:miter/>
          </a:ln>
        </p:spPr>
      </p:sp>
      <p:sp>
        <p:nvSpPr>
          <p:cNvPr name="TextBox 3" id="3"/>
          <p:cNvSpPr txBox="true"/>
          <p:nvPr/>
        </p:nvSpPr>
        <p:spPr>
          <a:xfrm rot="0">
            <a:off x="9144000" y="3409796"/>
            <a:ext cx="7625904" cy="1283235"/>
          </a:xfrm>
          <a:prstGeom prst="rect">
            <a:avLst/>
          </a:prstGeom>
        </p:spPr>
        <p:txBody>
          <a:bodyPr anchor="t" rtlCol="false" tIns="0" lIns="0" bIns="0" rIns="0">
            <a:spAutoFit/>
          </a:bodyPr>
          <a:lstStyle/>
          <a:p>
            <a:pPr algn="l">
              <a:lnSpc>
                <a:spcPts val="8916"/>
              </a:lnSpc>
            </a:pPr>
            <a:r>
              <a:rPr lang="en-US" sz="9288" b="true">
                <a:solidFill>
                  <a:srgbClr val="D27A2F"/>
                </a:solidFill>
                <a:latin typeface="Childos Arabic Bold"/>
                <a:ea typeface="Childos Arabic Bold"/>
                <a:cs typeface="Childos Arabic Bold"/>
                <a:sym typeface="Childos Arabic Bold"/>
              </a:rPr>
              <a:t>Conclusion </a:t>
            </a:r>
          </a:p>
        </p:txBody>
      </p:sp>
      <p:sp>
        <p:nvSpPr>
          <p:cNvPr name="Freeform 4" id="4"/>
          <p:cNvSpPr/>
          <p:nvPr/>
        </p:nvSpPr>
        <p:spPr>
          <a:xfrm flipH="false" flipV="false" rot="1104527">
            <a:off x="-2340276" y="7849452"/>
            <a:ext cx="6737952" cy="6249450"/>
          </a:xfrm>
          <a:custGeom>
            <a:avLst/>
            <a:gdLst/>
            <a:ahLst/>
            <a:cxnLst/>
            <a:rect r="r" b="b" t="t" l="l"/>
            <a:pathLst>
              <a:path h="6249450" w="6737952">
                <a:moveTo>
                  <a:pt x="0" y="0"/>
                </a:moveTo>
                <a:lnTo>
                  <a:pt x="6737952" y="0"/>
                </a:lnTo>
                <a:lnTo>
                  <a:pt x="6737952"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9323303">
            <a:off x="12379187" y="-2842614"/>
            <a:ext cx="6737952" cy="6249450"/>
          </a:xfrm>
          <a:custGeom>
            <a:avLst/>
            <a:gdLst/>
            <a:ahLst/>
            <a:cxnLst/>
            <a:rect r="r" b="b" t="t" l="l"/>
            <a:pathLst>
              <a:path h="6249450" w="6737952">
                <a:moveTo>
                  <a:pt x="0" y="0"/>
                </a:moveTo>
                <a:lnTo>
                  <a:pt x="6737951" y="0"/>
                </a:lnTo>
                <a:lnTo>
                  <a:pt x="6737951" y="6249450"/>
                </a:lnTo>
                <a:lnTo>
                  <a:pt x="0" y="624945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8247948">
            <a:off x="15019356" y="6434607"/>
            <a:ext cx="2411733" cy="4909381"/>
          </a:xfrm>
          <a:custGeom>
            <a:avLst/>
            <a:gdLst/>
            <a:ahLst/>
            <a:cxnLst/>
            <a:rect r="r" b="b" t="t" l="l"/>
            <a:pathLst>
              <a:path h="4909381" w="2411733">
                <a:moveTo>
                  <a:pt x="0" y="0"/>
                </a:moveTo>
                <a:lnTo>
                  <a:pt x="2411733" y="0"/>
                </a:lnTo>
                <a:lnTo>
                  <a:pt x="2411733" y="4909381"/>
                </a:lnTo>
                <a:lnTo>
                  <a:pt x="0" y="490938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5742372">
            <a:off x="519764" y="-922459"/>
            <a:ext cx="4151122" cy="4114800"/>
          </a:xfrm>
          <a:custGeom>
            <a:avLst/>
            <a:gdLst/>
            <a:ahLst/>
            <a:cxnLst/>
            <a:rect r="r" b="b" t="t" l="l"/>
            <a:pathLst>
              <a:path h="4114800" w="4151122">
                <a:moveTo>
                  <a:pt x="0" y="0"/>
                </a:moveTo>
                <a:lnTo>
                  <a:pt x="4151123" y="0"/>
                </a:lnTo>
                <a:lnTo>
                  <a:pt x="4151123"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2843637">
            <a:off x="742973" y="4643668"/>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2843637">
            <a:off x="12471122" y="7890043"/>
            <a:ext cx="999664" cy="999664"/>
          </a:xfrm>
          <a:custGeom>
            <a:avLst/>
            <a:gdLst/>
            <a:ahLst/>
            <a:cxnLst/>
            <a:rect r="r" b="b" t="t" l="l"/>
            <a:pathLst>
              <a:path h="999664" w="999664">
                <a:moveTo>
                  <a:pt x="0" y="0"/>
                </a:moveTo>
                <a:lnTo>
                  <a:pt x="999664" y="0"/>
                </a:lnTo>
                <a:lnTo>
                  <a:pt x="999664" y="999664"/>
                </a:lnTo>
                <a:lnTo>
                  <a:pt x="0" y="99966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4129766">
            <a:off x="4876401" y="8488440"/>
            <a:ext cx="671296" cy="671296"/>
          </a:xfrm>
          <a:custGeom>
            <a:avLst/>
            <a:gdLst/>
            <a:ahLst/>
            <a:cxnLst/>
            <a:rect r="r" b="b" t="t" l="l"/>
            <a:pathLst>
              <a:path h="671296" w="671296">
                <a:moveTo>
                  <a:pt x="0" y="0"/>
                </a:moveTo>
                <a:lnTo>
                  <a:pt x="671295" y="0"/>
                </a:lnTo>
                <a:lnTo>
                  <a:pt x="671295" y="671295"/>
                </a:lnTo>
                <a:lnTo>
                  <a:pt x="0" y="67129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1" id="11"/>
          <p:cNvSpPr/>
          <p:nvPr/>
        </p:nvSpPr>
        <p:spPr>
          <a:xfrm flipH="false" flipV="false" rot="-4129766">
            <a:off x="10856762" y="1761681"/>
            <a:ext cx="671296" cy="671296"/>
          </a:xfrm>
          <a:custGeom>
            <a:avLst/>
            <a:gdLst/>
            <a:ahLst/>
            <a:cxnLst/>
            <a:rect r="r" b="b" t="t" l="l"/>
            <a:pathLst>
              <a:path h="671296" w="671296">
                <a:moveTo>
                  <a:pt x="0" y="0"/>
                </a:moveTo>
                <a:lnTo>
                  <a:pt x="671296" y="0"/>
                </a:lnTo>
                <a:lnTo>
                  <a:pt x="671296" y="671296"/>
                </a:lnTo>
                <a:lnTo>
                  <a:pt x="0" y="671296"/>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4732681" y="7227337"/>
            <a:ext cx="2030963" cy="2030963"/>
          </a:xfrm>
          <a:custGeom>
            <a:avLst/>
            <a:gdLst/>
            <a:ahLst/>
            <a:cxnLst/>
            <a:rect r="r" b="b" t="t" l="l"/>
            <a:pathLst>
              <a:path h="2030963" w="2030963">
                <a:moveTo>
                  <a:pt x="0" y="0"/>
                </a:moveTo>
                <a:lnTo>
                  <a:pt x="2030963" y="0"/>
                </a:lnTo>
                <a:lnTo>
                  <a:pt x="2030963" y="2030963"/>
                </a:lnTo>
                <a:lnTo>
                  <a:pt x="0" y="203096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1192410" y="4703802"/>
            <a:ext cx="1573038" cy="1747820"/>
          </a:xfrm>
          <a:custGeom>
            <a:avLst/>
            <a:gdLst/>
            <a:ahLst/>
            <a:cxnLst/>
            <a:rect r="r" b="b" t="t" l="l"/>
            <a:pathLst>
              <a:path h="1747820" w="1573038">
                <a:moveTo>
                  <a:pt x="0" y="0"/>
                </a:moveTo>
                <a:lnTo>
                  <a:pt x="1573038" y="0"/>
                </a:lnTo>
                <a:lnTo>
                  <a:pt x="1573038" y="1747821"/>
                </a:lnTo>
                <a:lnTo>
                  <a:pt x="0" y="174782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4" id="14"/>
          <p:cNvSpPr/>
          <p:nvPr/>
        </p:nvSpPr>
        <p:spPr>
          <a:xfrm flipH="false" flipV="false" rot="0">
            <a:off x="3623837" y="3989501"/>
            <a:ext cx="3176422" cy="3176422"/>
          </a:xfrm>
          <a:custGeom>
            <a:avLst/>
            <a:gdLst/>
            <a:ahLst/>
            <a:cxnLst/>
            <a:rect r="r" b="b" t="t" l="l"/>
            <a:pathLst>
              <a:path h="3176422" w="3176422">
                <a:moveTo>
                  <a:pt x="0" y="0"/>
                </a:moveTo>
                <a:lnTo>
                  <a:pt x="3176423" y="0"/>
                </a:lnTo>
                <a:lnTo>
                  <a:pt x="3176423" y="3176423"/>
                </a:lnTo>
                <a:lnTo>
                  <a:pt x="0" y="3176423"/>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TextBox 15" id="15"/>
          <p:cNvSpPr txBox="true"/>
          <p:nvPr/>
        </p:nvSpPr>
        <p:spPr>
          <a:xfrm rot="0">
            <a:off x="9144000" y="6232653"/>
            <a:ext cx="7625904" cy="1283235"/>
          </a:xfrm>
          <a:prstGeom prst="rect">
            <a:avLst/>
          </a:prstGeom>
        </p:spPr>
        <p:txBody>
          <a:bodyPr anchor="t" rtlCol="false" tIns="0" lIns="0" bIns="0" rIns="0">
            <a:spAutoFit/>
          </a:bodyPr>
          <a:lstStyle/>
          <a:p>
            <a:pPr algn="l">
              <a:lnSpc>
                <a:spcPts val="8916"/>
              </a:lnSpc>
            </a:pPr>
            <a:r>
              <a:rPr lang="en-US" sz="9288" b="true">
                <a:solidFill>
                  <a:srgbClr val="D27A2F"/>
                </a:solidFill>
                <a:latin typeface="Childos Arabic Bold"/>
                <a:ea typeface="Childos Arabic Bold"/>
                <a:cs typeface="Childos Arabic Bold"/>
                <a:sym typeface="Childos Arabic Bold"/>
              </a:rPr>
              <a:t>Preguntas?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DAHTb0XD76o</dc:identifier>
  <dcterms:modified xsi:type="dcterms:W3CDTF">2011-08-01T06:04:30Z</dcterms:modified>
  <cp:revision>1</cp:revision>
  <dc:title>NFC-FoodTech</dc:title>
</cp:coreProperties>
</file>